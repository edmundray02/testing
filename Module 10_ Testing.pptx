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y="5143500" cx="9144000"/>
  <p:notesSz cx="6858000" cy="9144000"/>
  <p:embeddedFontLst>
    <p:embeddedFont>
      <p:font typeface="IBM Plex Sans"/>
      <p:regular r:id="rId31"/>
      <p:bold r:id="rId32"/>
      <p:italic r:id="rId33"/>
      <p:boldItalic r:id="rId34"/>
    </p:embeddedFont>
    <p:embeddedFont>
      <p:font typeface="Arial Black"/>
      <p:regular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52AAC7-D882-498C-A235-D5521DCB0453}">
  <a:tblStyle styleId="{6352AAC7-D882-498C-A235-D5521DCB045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IBMPlexSans-regular.fntdata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IBMPlexSans-italic.fntdata"/><Relationship Id="rId10" Type="http://schemas.openxmlformats.org/officeDocument/2006/relationships/slide" Target="slides/slide2.xml"/><Relationship Id="rId32" Type="http://schemas.openxmlformats.org/officeDocument/2006/relationships/font" Target="fonts/IBMPlexSans-bold.fntdata"/><Relationship Id="rId13" Type="http://schemas.openxmlformats.org/officeDocument/2006/relationships/slide" Target="slides/slide5.xml"/><Relationship Id="rId35" Type="http://schemas.openxmlformats.org/officeDocument/2006/relationships/font" Target="fonts/ArialBlack-regular.fntdata"/><Relationship Id="rId12" Type="http://schemas.openxmlformats.org/officeDocument/2006/relationships/slide" Target="slides/slide4.xml"/><Relationship Id="rId34" Type="http://schemas.openxmlformats.org/officeDocument/2006/relationships/font" Target="fonts/IBMPlexSans-boldItalic.fntdata"/><Relationship Id="rId15" Type="http://schemas.openxmlformats.org/officeDocument/2006/relationships/slide" Target="slides/slide7.xml"/><Relationship Id="rId37" Type="http://schemas.openxmlformats.org/officeDocument/2006/relationships/font" Target="fonts/RobotoMono-bold.fntdata"/><Relationship Id="rId14" Type="http://schemas.openxmlformats.org/officeDocument/2006/relationships/slide" Target="slides/slide6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9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8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cf5223eb_0_64:notes"/>
          <p:cNvSpPr txBox="1"/>
          <p:nvPr>
            <p:ph idx="1" type="body"/>
          </p:nvPr>
        </p:nvSpPr>
        <p:spPr>
          <a:xfrm>
            <a:off x="760343" y="4699239"/>
            <a:ext cx="6082200" cy="44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3cf5223eb_0_64:notes"/>
          <p:cNvSpPr/>
          <p:nvPr>
            <p:ph idx="2" type="sldImg"/>
          </p:nvPr>
        </p:nvSpPr>
        <p:spPr>
          <a:xfrm>
            <a:off x="521922" y="751751"/>
            <a:ext cx="6558900" cy="37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51c6d58e0_0_3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b51c6d58e0_0_3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b51c6d58e0_0_3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f4d221f3d_0_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cf4d221f3d_0_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cf4d221f3d_0_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e731a4aa0_0_1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g3ce731a4aa0_0_1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ce731a4aa0_0_1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f4d221f3d_0_1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cf4d221f3d_0_1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cf4d221f3d_0_1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205352937_0_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d205352937_0_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d205352937_0_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205352937_0_2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g3d205352937_0_2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d205352937_0_2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205352937_0_3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3d205352937_0_3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d205352937_0_3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205352937_0_4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g3d205352937_0_4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d205352937_0_4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205352937_0_5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g3d205352937_0_5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d205352937_0_5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205352937_0_7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g3d205352937_0_7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d205352937_0_7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205352937_0_8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3d205352937_0_8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d205352937_0_8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205352937_0_105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g3d205352937_0_105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d205352937_0_105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205352937_0_115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d205352937_0_115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d205352937_0_115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205352937_0_12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g3d205352937_0_12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d205352937_0_12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205352937_0_14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g3d205352937_0_14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d205352937_0_14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205352937_0_16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g3d205352937_0_16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d205352937_0_16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205352937_0_18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g3d205352937_0_18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d205352937_0_18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205352937_0_19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g3d205352937_0_19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d205352937_0_19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205352937_2_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g3d205352937_2_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d205352937_2_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205352937_2_1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g3d205352937_2_1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d205352937_2_1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205352937_2_2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g3d205352937_2_2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d205352937_2_2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8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.jpg"/><Relationship Id="rId2" Type="http://schemas.openxmlformats.org/officeDocument/2006/relationships/image" Target="../media/image7.jp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>
            <a:off x="2708100" y="732510"/>
            <a:ext cx="0" cy="3429000"/>
          </a:xfrm>
          <a:prstGeom prst="straightConnector1">
            <a:avLst/>
          </a:prstGeom>
          <a:noFill/>
          <a:ln cap="flat" cmpd="sng" w="21325">
            <a:solidFill>
              <a:srgbClr val="9B1D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" name="Google Shape;56;p13"/>
          <p:cNvSpPr/>
          <p:nvPr/>
        </p:nvSpPr>
        <p:spPr>
          <a:xfrm>
            <a:off x="8000910" y="0"/>
            <a:ext cx="1066200" cy="589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10" y="1566000"/>
            <a:ext cx="2609010" cy="2010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type="title"/>
          </p:nvPr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79350" y="1200150"/>
            <a:ext cx="83844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9"/>
          <p:cNvSpPr/>
          <p:nvPr/>
        </p:nvSpPr>
        <p:spPr>
          <a:xfrm>
            <a:off x="2886030" y="737640"/>
            <a:ext cx="51141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4000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000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Module 10: Testing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p39"/>
          <p:cNvSpPr/>
          <p:nvPr/>
        </p:nvSpPr>
        <p:spPr>
          <a:xfrm>
            <a:off x="2886030" y="2919780"/>
            <a:ext cx="51141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Calibri"/>
                <a:ea typeface="Calibri"/>
                <a:cs typeface="Calibri"/>
                <a:sym typeface="Calibri"/>
              </a:rPr>
              <a:t>A BPI Training Program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0" y="4841640"/>
            <a:ext cx="7611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76" name="Google Shape;176;p4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7" name="Google Shape;177;p4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C9211E"/>
                </a:solidFill>
              </a:rPr>
              <a:t>Day 1 - Introduction to Testing</a:t>
            </a:r>
            <a:endParaRPr b="1" sz="4000">
              <a:solidFill>
                <a:srgbClr val="C9211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C9211E"/>
                </a:solidFill>
              </a:rPr>
              <a:t>And JUnit</a:t>
            </a:r>
            <a:endParaRPr b="1" sz="4000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Takeaways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4" name="Google Shape;184;p4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5" name="Google Shape;185;p41"/>
          <p:cNvSpPr/>
          <p:nvPr/>
        </p:nvSpPr>
        <p:spPr>
          <a:xfrm>
            <a:off x="379800" y="8955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Takeaways from the previous module (Spring Security Basics):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1"/>
          <p:cNvSpPr txBox="1"/>
          <p:nvPr/>
        </p:nvSpPr>
        <p:spPr>
          <a:xfrm>
            <a:off x="443375" y="1176825"/>
            <a:ext cx="6327300" cy="3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Authentication vs Authorization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Authentication: Verifies user identity (e.g., username/password)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Authorization: Determines user permissions (e.g., access to endpoints/resources)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Roles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Define access levels (e.g., ADMIN, USER)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Role-Based Access Control (RBAC) manages permissions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Can have fine-grained permissions beyond roles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Data Storage for Security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Database-backed authentication: Persistent storage, maintainable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In-memory authentication: Hard-coded users, useful for testing or demos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Spring Security Basics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Security filters: Authentication → Authorization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Password encoding: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BCryptPasswordEncoder</a:t>
            </a:r>
            <a:r>
              <a:rPr lang="en" sz="1100">
                <a:solidFill>
                  <a:schemeClr val="dk1"/>
                </a:solidFill>
              </a:rPr>
              <a:t>, never plaintext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Method-level security: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@PreAuthorize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@Secured</a:t>
            </a:r>
            <a:r>
              <a:rPr lang="en" sz="1100">
                <a:solidFill>
                  <a:schemeClr val="dk1"/>
                </a:solidFill>
              </a:rPr>
              <a:t> annotations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Best Practices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Apply</a:t>
            </a:r>
            <a:r>
              <a:rPr lang="en" sz="1100">
                <a:solidFill>
                  <a:schemeClr val="dk1"/>
                </a:solidFill>
              </a:rPr>
              <a:t> authentication and authorization logic as needed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Encrypt/encode credentials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Maintain clear role hierarchies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Regularly review roles and permissions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93" name="Google Shape;193;p4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4" name="Google Shape;194;p4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Learning</a:t>
            </a: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Objectives:</a:t>
            </a:r>
            <a:endParaRPr b="1" sz="13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By the end of this module, participants will be able to: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Learn what is testing and why testing matters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Write </a:t>
            </a:r>
            <a:r>
              <a:rPr b="1" lang="en" sz="1100">
                <a:solidFill>
                  <a:schemeClr val="dk1"/>
                </a:solidFill>
              </a:rPr>
              <a:t>unit tests</a:t>
            </a:r>
            <a:r>
              <a:rPr lang="en" sz="1100">
                <a:solidFill>
                  <a:schemeClr val="dk1"/>
                </a:solidFill>
              </a:rPr>
              <a:t> for service layer logic using JUnit 5 and Mockito.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Write </a:t>
            </a:r>
            <a:r>
              <a:rPr b="1" lang="en" sz="1100">
                <a:solidFill>
                  <a:schemeClr val="dk1"/>
                </a:solidFill>
              </a:rPr>
              <a:t>integration tests</a:t>
            </a:r>
            <a:r>
              <a:rPr lang="en" sz="1100">
                <a:solidFill>
                  <a:schemeClr val="dk1"/>
                </a:solidFill>
              </a:rPr>
              <a:t> for Spring Boot applications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@SpringBootTest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Test </a:t>
            </a:r>
            <a:r>
              <a:rPr b="1" lang="en" sz="1100">
                <a:solidFill>
                  <a:schemeClr val="dk1"/>
                </a:solidFill>
              </a:rPr>
              <a:t>controllers, services, and repositories</a:t>
            </a:r>
            <a:r>
              <a:rPr lang="en" sz="1100">
                <a:solidFill>
                  <a:schemeClr val="dk1"/>
                </a:solidFill>
              </a:rPr>
              <a:t> effectively.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Follow </a:t>
            </a:r>
            <a:r>
              <a:rPr b="1" lang="en" sz="1100">
                <a:solidFill>
                  <a:schemeClr val="dk1"/>
                </a:solidFill>
              </a:rPr>
              <a:t>best practices</a:t>
            </a:r>
            <a:r>
              <a:rPr lang="en" sz="1100">
                <a:solidFill>
                  <a:schemeClr val="dk1"/>
                </a:solidFill>
              </a:rPr>
              <a:t> to create maintainable, reliable automated tests.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Avoid common pitfalls in Spring Boot testing.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01" name="Google Shape;201;p4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2" name="Google Shape;202;p43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What is Software Testing?</a:t>
            </a:r>
            <a:endParaRPr b="1" sz="20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Software testing</a:t>
            </a:r>
            <a:r>
              <a:rPr lang="en" sz="1300">
                <a:solidFill>
                  <a:schemeClr val="dk1"/>
                </a:solidFill>
              </a:rPr>
              <a:t> is the process of </a:t>
            </a:r>
            <a:r>
              <a:rPr b="1" lang="en" sz="1300">
                <a:solidFill>
                  <a:schemeClr val="dk1"/>
                </a:solidFill>
              </a:rPr>
              <a:t>evaluating and verifying that a program or application behaves as expected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It ensures the software </a:t>
            </a:r>
            <a:r>
              <a:rPr b="1" lang="en" sz="1300">
                <a:solidFill>
                  <a:schemeClr val="dk1"/>
                </a:solidFill>
              </a:rPr>
              <a:t>meets requirements and works correctly under different conditions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43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10" name="Google Shape;210;p4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1" name="Google Shape;211;p44"/>
          <p:cNvSpPr/>
          <p:nvPr/>
        </p:nvSpPr>
        <p:spPr>
          <a:xfrm>
            <a:off x="379350" y="1200150"/>
            <a:ext cx="63288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Why Testing Matters?</a:t>
            </a:r>
            <a:endParaRPr b="1" sz="20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Detect </a:t>
            </a:r>
            <a:r>
              <a:rPr b="1" lang="en" sz="1300">
                <a:solidFill>
                  <a:schemeClr val="dk1"/>
                </a:solidFill>
              </a:rPr>
              <a:t>bugs early</a:t>
            </a:r>
            <a:r>
              <a:rPr lang="en" sz="1300">
                <a:solidFill>
                  <a:schemeClr val="dk1"/>
                </a:solidFill>
              </a:rPr>
              <a:t> → reduces cost of fixing in production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Ensures </a:t>
            </a:r>
            <a:r>
              <a:rPr b="1" lang="en" sz="1300">
                <a:solidFill>
                  <a:schemeClr val="dk1"/>
                </a:solidFill>
              </a:rPr>
              <a:t>reliability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maintainability</a:t>
            </a:r>
            <a:r>
              <a:rPr lang="en" sz="1300">
                <a:solidFill>
                  <a:schemeClr val="dk1"/>
                </a:solidFill>
              </a:rPr>
              <a:t> of code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Supports </a:t>
            </a:r>
            <a:r>
              <a:rPr b="1" lang="en" sz="1300">
                <a:solidFill>
                  <a:schemeClr val="dk1"/>
                </a:solidFill>
              </a:rPr>
              <a:t>CI/CD pipelines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continuous feedback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Allows </a:t>
            </a:r>
            <a:r>
              <a:rPr b="1" lang="en" sz="1300">
                <a:solidFill>
                  <a:schemeClr val="dk1"/>
                </a:solidFill>
              </a:rPr>
              <a:t>confident refactoring</a:t>
            </a:r>
            <a:r>
              <a:rPr lang="en" sz="1300">
                <a:solidFill>
                  <a:schemeClr val="dk1"/>
                </a:solidFill>
              </a:rPr>
              <a:t> of existing code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Improves </a:t>
            </a:r>
            <a:r>
              <a:rPr b="1" lang="en" sz="1300">
                <a:solidFill>
                  <a:schemeClr val="dk1"/>
                </a:solidFill>
              </a:rPr>
              <a:t>team productivity</a:t>
            </a:r>
            <a:r>
              <a:rPr lang="en" sz="1300">
                <a:solidFill>
                  <a:schemeClr val="dk1"/>
                </a:solidFill>
              </a:rPr>
              <a:t> by reducing regression issues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800" y="3101350"/>
            <a:ext cx="4621399" cy="173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0975" y="1068625"/>
            <a:ext cx="3644774" cy="24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0" name="Google Shape;220;p4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1" name="Google Shape;221;p45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Levels of Testing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2" name="Google Shape;222;p45"/>
          <p:cNvGraphicFramePr/>
          <p:nvPr/>
        </p:nvGraphicFramePr>
        <p:xfrm>
          <a:off x="488050" y="177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{6352AAC7-D882-498C-A235-D5521DCB0453}</a:tableStyleId>
              </a:tblPr>
              <a:tblGrid>
                <a:gridCol w="1109700"/>
                <a:gridCol w="3603600"/>
                <a:gridCol w="35558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Level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Focus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Tools / Annotations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Unit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Test individual methods/classes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JUnit 5, Mockito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Integration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Test components together, DB, REST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@SpringBootTest, TestRestTemplate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Web</a:t>
                      </a:r>
                      <a:r>
                        <a:rPr lang="en" sz="1300"/>
                        <a:t> </a:t>
                      </a:r>
                      <a:r>
                        <a:rPr b="1" lang="en" sz="1300"/>
                        <a:t>Layer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Test controllers &amp; REST endpoints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@WebMvcTest, MockMvc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Repository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Test JPA repositories &amp; DB queries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@DataJpaTest, Testcontainers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9" name="Google Shape;229;p4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0" name="Google Shape;230;p46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The Test Pyramid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6"/>
          <p:cNvSpPr txBox="1"/>
          <p:nvPr/>
        </p:nvSpPr>
        <p:spPr>
          <a:xfrm>
            <a:off x="4388825" y="2461450"/>
            <a:ext cx="38838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Write </a:t>
            </a:r>
            <a:r>
              <a:rPr b="1" lang="en" sz="1100">
                <a:solidFill>
                  <a:schemeClr val="dk1"/>
                </a:solidFill>
              </a:rPr>
              <a:t>more unit tests</a:t>
            </a:r>
            <a:r>
              <a:rPr lang="en" sz="1100">
                <a:solidFill>
                  <a:schemeClr val="dk1"/>
                </a:solidFill>
              </a:rPr>
              <a:t> than integration tests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Integration tests </a:t>
            </a:r>
            <a:r>
              <a:rPr b="1" lang="en" sz="1100">
                <a:solidFill>
                  <a:schemeClr val="dk1"/>
                </a:solidFill>
              </a:rPr>
              <a:t>verify interactions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Web layer / repository tests </a:t>
            </a:r>
            <a:r>
              <a:rPr b="1" lang="en" sz="1100">
                <a:solidFill>
                  <a:schemeClr val="dk1"/>
                </a:solidFill>
              </a:rPr>
              <a:t>verify end-to-end correctness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232" name="Google Shape;23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924" y="1778675"/>
            <a:ext cx="3761275" cy="287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39" name="Google Shape;239;p4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0" name="Google Shape;240;p47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Testing Methodologies</a:t>
            </a:r>
            <a:endParaRPr b="1" sz="2000" u="sng">
              <a:solidFill>
                <a:srgbClr val="C9211E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TDD (Test-Driven Development)</a:t>
            </a:r>
            <a:r>
              <a:rPr lang="en">
                <a:solidFill>
                  <a:schemeClr val="dk1"/>
                </a:solidFill>
              </a:rPr>
              <a:t> – write tests before code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BDD (Behavior-Driven Development)</a:t>
            </a:r>
            <a:r>
              <a:rPr lang="en">
                <a:solidFill>
                  <a:schemeClr val="dk1"/>
                </a:solidFill>
              </a:rPr>
              <a:t> – tests focus on system behavior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AAA Pattern (Arrange → Act → Assert)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7" name="Google Shape;247;p4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8" name="Google Shape;248;p48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Test-Driven Development (TDD)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 development approach where </a:t>
            </a:r>
            <a:r>
              <a:rPr b="1" lang="en" sz="1300">
                <a:solidFill>
                  <a:schemeClr val="dk1"/>
                </a:solidFill>
              </a:rPr>
              <a:t>tests are written before writing the actual code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Ensures that code is </a:t>
            </a:r>
            <a:r>
              <a:rPr b="1" lang="en" sz="1300">
                <a:solidFill>
                  <a:schemeClr val="dk1"/>
                </a:solidFill>
              </a:rPr>
              <a:t>testable, correct, and maintainable</a:t>
            </a:r>
            <a:r>
              <a:rPr lang="en" sz="1300">
                <a:solidFill>
                  <a:schemeClr val="dk1"/>
                </a:solidFill>
              </a:rPr>
              <a:t> from the start.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8"/>
          <p:cNvSpPr txBox="1"/>
          <p:nvPr/>
        </p:nvSpPr>
        <p:spPr>
          <a:xfrm>
            <a:off x="339200" y="2428500"/>
            <a:ext cx="52611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Workflow (Red-Green-Refactor):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Red:</a:t>
            </a:r>
            <a:r>
              <a:rPr lang="en" sz="1300">
                <a:solidFill>
                  <a:schemeClr val="dk1"/>
                </a:solidFill>
              </a:rPr>
              <a:t> Write a failing test for a new feature or functionality.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Green:</a:t>
            </a:r>
            <a:r>
              <a:rPr lang="en" sz="1300">
                <a:solidFill>
                  <a:schemeClr val="dk1"/>
                </a:solidFill>
              </a:rPr>
              <a:t> Write just enough code to make the test pass.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Refactor:</a:t>
            </a:r>
            <a:r>
              <a:rPr lang="en" sz="1300">
                <a:solidFill>
                  <a:schemeClr val="dk1"/>
                </a:solidFill>
              </a:rPr>
              <a:t> Clean up the code while ensuring tests still pass.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0" name="Google Shape;250;p48"/>
          <p:cNvSpPr txBox="1"/>
          <p:nvPr/>
        </p:nvSpPr>
        <p:spPr>
          <a:xfrm>
            <a:off x="456875" y="3959725"/>
            <a:ext cx="713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Key Benefit:</a:t>
            </a:r>
            <a:r>
              <a:rPr lang="en" sz="1300">
                <a:solidFill>
                  <a:schemeClr val="dk1"/>
                </a:solidFill>
              </a:rPr>
              <a:t> Forces </a:t>
            </a:r>
            <a:r>
              <a:rPr b="1" lang="en" sz="1300">
                <a:solidFill>
                  <a:schemeClr val="dk1"/>
                </a:solidFill>
              </a:rPr>
              <a:t>writing code only for tested functionality</a:t>
            </a:r>
            <a:r>
              <a:rPr lang="en" sz="1300">
                <a:solidFill>
                  <a:schemeClr val="dk1"/>
                </a:solidFill>
              </a:rPr>
              <a:t>, reducing over-engineering.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57" name="Google Shape;257;p4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8" name="Google Shape;258;p49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Behavior-Driven Development </a:t>
            </a:r>
            <a:r>
              <a:rPr b="1" lang="en" sz="2000" u="sng">
                <a:solidFill>
                  <a:srgbClr val="C9211E"/>
                </a:solidFill>
              </a:rPr>
              <a:t>(BDD)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Tests focus on the </a:t>
            </a:r>
            <a:r>
              <a:rPr b="1" lang="en" sz="1300">
                <a:solidFill>
                  <a:schemeClr val="dk1"/>
                </a:solidFill>
              </a:rPr>
              <a:t>behavior of the system</a:t>
            </a:r>
            <a:r>
              <a:rPr lang="en" sz="1300">
                <a:solidFill>
                  <a:schemeClr val="dk1"/>
                </a:solidFill>
              </a:rPr>
              <a:t> rather than implementation.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Often uses </a:t>
            </a:r>
            <a:r>
              <a:rPr b="1" lang="en" sz="1300">
                <a:solidFill>
                  <a:schemeClr val="dk1"/>
                </a:solidFill>
              </a:rPr>
              <a:t>natural language descriptions</a:t>
            </a:r>
            <a:r>
              <a:rPr lang="en" sz="1300">
                <a:solidFill>
                  <a:schemeClr val="dk1"/>
                </a:solidFill>
              </a:rPr>
              <a:t> of functionality (Given-When-Then).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Helps align </a:t>
            </a:r>
            <a:r>
              <a:rPr b="1" lang="en" sz="1300">
                <a:solidFill>
                  <a:schemeClr val="dk1"/>
                </a:solidFill>
              </a:rPr>
              <a:t>developers, testers, and business stakeholders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9"/>
          <p:cNvSpPr txBox="1"/>
          <p:nvPr/>
        </p:nvSpPr>
        <p:spPr>
          <a:xfrm>
            <a:off x="297675" y="2644425"/>
            <a:ext cx="3000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Workflow: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Given:</a:t>
            </a:r>
            <a:r>
              <a:rPr lang="en" sz="1300">
                <a:solidFill>
                  <a:schemeClr val="dk1"/>
                </a:solidFill>
              </a:rPr>
              <a:t> Initial context or state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When:</a:t>
            </a:r>
            <a:r>
              <a:rPr lang="en" sz="1300">
                <a:solidFill>
                  <a:schemeClr val="dk1"/>
                </a:solidFill>
              </a:rPr>
              <a:t> Action taken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Then:</a:t>
            </a:r>
            <a:r>
              <a:rPr lang="en" sz="1300">
                <a:solidFill>
                  <a:schemeClr val="dk1"/>
                </a:solidFill>
              </a:rPr>
              <a:t> Expected outcome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60" name="Google Shape;260;p49"/>
          <p:cNvSpPr txBox="1"/>
          <p:nvPr/>
        </p:nvSpPr>
        <p:spPr>
          <a:xfrm>
            <a:off x="297675" y="4098175"/>
            <a:ext cx="78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Key Benefit:</a:t>
            </a:r>
            <a:r>
              <a:rPr lang="en" sz="1300">
                <a:solidFill>
                  <a:schemeClr val="dk1"/>
                </a:solidFill>
              </a:rPr>
              <a:t> Makes tests </a:t>
            </a:r>
            <a:r>
              <a:rPr b="1" lang="en" sz="1300">
                <a:solidFill>
                  <a:schemeClr val="dk1"/>
                </a:solidFill>
              </a:rPr>
              <a:t>readable by non-developers</a:t>
            </a:r>
            <a:r>
              <a:rPr lang="en" sz="1300">
                <a:solidFill>
                  <a:schemeClr val="dk1"/>
                </a:solidFill>
              </a:rPr>
              <a:t> and focuses on </a:t>
            </a:r>
            <a:r>
              <a:rPr b="1" lang="en" sz="1300">
                <a:solidFill>
                  <a:schemeClr val="dk1"/>
                </a:solidFill>
              </a:rPr>
              <a:t>what the system should do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67" name="Google Shape;267;p5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8" name="Google Shape;268;p50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AAA Pattern - Arrange, Act, Assert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 </a:t>
            </a:r>
            <a:r>
              <a:rPr b="1" lang="en" sz="1300">
                <a:solidFill>
                  <a:schemeClr val="dk1"/>
                </a:solidFill>
              </a:rPr>
              <a:t>structured pattern for writing unit tests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Makes tests </a:t>
            </a:r>
            <a:r>
              <a:rPr b="1" lang="en" sz="1300">
                <a:solidFill>
                  <a:schemeClr val="dk1"/>
                </a:solidFill>
              </a:rPr>
              <a:t>clear, readable, and consistent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0"/>
          <p:cNvSpPr txBox="1"/>
          <p:nvPr/>
        </p:nvSpPr>
        <p:spPr>
          <a:xfrm>
            <a:off x="297675" y="2428500"/>
            <a:ext cx="63066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Steps: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Arrange:</a:t>
            </a:r>
            <a:r>
              <a:rPr lang="en" sz="1300">
                <a:solidFill>
                  <a:schemeClr val="dk1"/>
                </a:solidFill>
              </a:rPr>
              <a:t> Set up objects, mocks, test data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Act:</a:t>
            </a:r>
            <a:r>
              <a:rPr lang="en" sz="1300">
                <a:solidFill>
                  <a:schemeClr val="dk1"/>
                </a:solidFill>
              </a:rPr>
              <a:t> Execute the method or functionality under test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" sz="1300">
                <a:solidFill>
                  <a:schemeClr val="dk1"/>
                </a:solidFill>
              </a:rPr>
              <a:t>Assert:</a:t>
            </a:r>
            <a:r>
              <a:rPr lang="en" sz="1300">
                <a:solidFill>
                  <a:schemeClr val="dk1"/>
                </a:solidFill>
              </a:rPr>
              <a:t> Verify the results are as expected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70" name="Google Shape;270;p50"/>
          <p:cNvSpPr txBox="1"/>
          <p:nvPr/>
        </p:nvSpPr>
        <p:spPr>
          <a:xfrm>
            <a:off x="379350" y="3987425"/>
            <a:ext cx="587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Key Benefit:</a:t>
            </a:r>
            <a:r>
              <a:rPr lang="en" sz="1300">
                <a:solidFill>
                  <a:schemeClr val="dk1"/>
                </a:solidFill>
              </a:rPr>
              <a:t> Keeps tests </a:t>
            </a:r>
            <a:r>
              <a:rPr b="1" lang="en" sz="1300">
                <a:solidFill>
                  <a:schemeClr val="dk1"/>
                </a:solidFill>
              </a:rPr>
              <a:t>organized</a:t>
            </a:r>
            <a:r>
              <a:rPr lang="en" sz="1300">
                <a:solidFill>
                  <a:schemeClr val="dk1"/>
                </a:solidFill>
              </a:rPr>
              <a:t>, easy to read, and easy to maintain.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77" name="Google Shape;277;p5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8" name="Google Shape;278;p51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JUnit Overview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JUnit 5:</a:t>
            </a:r>
            <a:r>
              <a:rPr lang="en" sz="1300">
                <a:solidFill>
                  <a:schemeClr val="dk1"/>
                </a:solidFill>
              </a:rPr>
              <a:t> Modern Java testing framework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Supports unit tests, parameterized tests, assertions, lifecycle hooks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Works well with Spring Boot (services, controllers, repositories)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Annotations: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@Test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@BeforeEach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@AfterEach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@BeforeAll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@AfterAll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Assertions: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assertEquals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assertTrue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assertThrows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Integrates with </a:t>
            </a:r>
            <a:r>
              <a:rPr b="1" lang="en" sz="1300">
                <a:solidFill>
                  <a:schemeClr val="dk1"/>
                </a:solidFill>
              </a:rPr>
              <a:t>Mockito</a:t>
            </a:r>
            <a:r>
              <a:rPr lang="en" sz="1300">
                <a:solidFill>
                  <a:schemeClr val="dk1"/>
                </a:solidFill>
              </a:rPr>
              <a:t> for mocking dependencies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85" name="Google Shape;285;p5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6" name="Google Shape;286;p52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@Test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Marks a method as a </a:t>
            </a:r>
            <a:r>
              <a:rPr b="1" lang="en" sz="1300">
                <a:solidFill>
                  <a:schemeClr val="dk1"/>
                </a:solidFill>
              </a:rPr>
              <a:t>test method</a:t>
            </a:r>
            <a:r>
              <a:rPr lang="en" sz="1300">
                <a:solidFill>
                  <a:schemeClr val="dk1"/>
                </a:solidFill>
              </a:rPr>
              <a:t> to be executed by JUnit.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2"/>
          <p:cNvSpPr txBox="1"/>
          <p:nvPr/>
        </p:nvSpPr>
        <p:spPr>
          <a:xfrm>
            <a:off x="796100" y="2166775"/>
            <a:ext cx="3000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@Test</a:t>
            </a:r>
            <a:endParaRPr sz="12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shouldAddNumbers()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assertEquals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(5, 2 + 3);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8" name="Google Shape;288;p52"/>
          <p:cNvSpPr txBox="1"/>
          <p:nvPr/>
        </p:nvSpPr>
        <p:spPr>
          <a:xfrm>
            <a:off x="318425" y="3426700"/>
            <a:ext cx="65904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Notes: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Every test case must have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@Test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Can optionally specify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@Test</a:t>
            </a:r>
            <a:r>
              <a:rPr lang="en" sz="1300">
                <a:solidFill>
                  <a:schemeClr val="dk1"/>
                </a:solidFill>
              </a:rPr>
              <a:t> with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assertThrows</a:t>
            </a:r>
            <a:r>
              <a:rPr lang="en" sz="1300">
                <a:solidFill>
                  <a:schemeClr val="dk1"/>
                </a:solidFill>
              </a:rPr>
              <a:t> for exception testing.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95" name="Google Shape;295;p5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6" name="Google Shape;296;p53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@BeforeEach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Runs </a:t>
            </a:r>
            <a:r>
              <a:rPr b="1" lang="en" sz="1300">
                <a:solidFill>
                  <a:schemeClr val="dk1"/>
                </a:solidFill>
              </a:rPr>
              <a:t>before each test method</a:t>
            </a:r>
            <a:r>
              <a:rPr lang="en" sz="1300">
                <a:solidFill>
                  <a:schemeClr val="dk1"/>
                </a:solidFill>
              </a:rPr>
              <a:t> in the class.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Typically used for </a:t>
            </a:r>
            <a:r>
              <a:rPr b="1" lang="en" sz="1300">
                <a:solidFill>
                  <a:schemeClr val="dk1"/>
                </a:solidFill>
              </a:rPr>
              <a:t>setup</a:t>
            </a:r>
            <a:r>
              <a:rPr lang="en" sz="1300">
                <a:solidFill>
                  <a:schemeClr val="dk1"/>
                </a:solidFill>
              </a:rPr>
              <a:t> (initializing objects, mocks, test data).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3"/>
          <p:cNvSpPr txBox="1"/>
          <p:nvPr/>
        </p:nvSpPr>
        <p:spPr>
          <a:xfrm>
            <a:off x="657725" y="2395225"/>
            <a:ext cx="6251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BeforeEach</a:t>
            </a:r>
            <a:endParaRPr sz="12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setUp()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calculator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Calculator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8" name="Google Shape;298;p53"/>
          <p:cNvSpPr txBox="1"/>
          <p:nvPr/>
        </p:nvSpPr>
        <p:spPr>
          <a:xfrm>
            <a:off x="886075" y="3537450"/>
            <a:ext cx="5316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Notes: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Ensures a </a:t>
            </a:r>
            <a:r>
              <a:rPr b="1" lang="en" sz="1100">
                <a:solidFill>
                  <a:schemeClr val="dk1"/>
                </a:solidFill>
              </a:rPr>
              <a:t>fresh environment</a:t>
            </a:r>
            <a:r>
              <a:rPr lang="en" sz="1100">
                <a:solidFill>
                  <a:schemeClr val="dk1"/>
                </a:solidFill>
              </a:rPr>
              <a:t> for each test.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05" name="Google Shape;305;p5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6" name="Google Shape;306;p54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@AfterEach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Runs </a:t>
            </a:r>
            <a:r>
              <a:rPr b="1" lang="en" sz="1300">
                <a:solidFill>
                  <a:schemeClr val="dk1"/>
                </a:solidFill>
              </a:rPr>
              <a:t>after each test method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Typically used for </a:t>
            </a:r>
            <a:r>
              <a:rPr b="1" lang="en" sz="1300">
                <a:solidFill>
                  <a:schemeClr val="dk1"/>
                </a:solidFill>
              </a:rPr>
              <a:t>cleanup</a:t>
            </a:r>
            <a:r>
              <a:rPr lang="en" sz="1300">
                <a:solidFill>
                  <a:schemeClr val="dk1"/>
                </a:solidFill>
              </a:rPr>
              <a:t> (closing connections, clearing data).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4"/>
          <p:cNvSpPr txBox="1"/>
          <p:nvPr/>
        </p:nvSpPr>
        <p:spPr>
          <a:xfrm>
            <a:off x="761500" y="2436750"/>
            <a:ext cx="4340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AfterEach</a:t>
            </a:r>
            <a:endParaRPr sz="12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tearDown()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calculator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" name="Google Shape;308;p54"/>
          <p:cNvSpPr txBox="1"/>
          <p:nvPr/>
        </p:nvSpPr>
        <p:spPr>
          <a:xfrm>
            <a:off x="443050" y="3758975"/>
            <a:ext cx="5129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Notes: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Useful if tests modify shared resources that need resetting.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15" name="Google Shape;315;p5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6" name="Google Shape;316;p55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@BeforeAll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Runs </a:t>
            </a:r>
            <a:r>
              <a:rPr b="1" lang="en" sz="1300">
                <a:solidFill>
                  <a:schemeClr val="dk1"/>
                </a:solidFill>
              </a:rPr>
              <a:t>once before all test methods</a:t>
            </a:r>
            <a:r>
              <a:rPr lang="en" sz="1300">
                <a:solidFill>
                  <a:schemeClr val="dk1"/>
                </a:solidFill>
              </a:rPr>
              <a:t> in the class.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Typically used for </a:t>
            </a:r>
            <a:r>
              <a:rPr b="1" lang="en" sz="1300">
                <a:solidFill>
                  <a:schemeClr val="dk1"/>
                </a:solidFill>
              </a:rPr>
              <a:t>expensive setup</a:t>
            </a:r>
            <a:r>
              <a:rPr lang="en" sz="1300">
                <a:solidFill>
                  <a:schemeClr val="dk1"/>
                </a:solidFill>
              </a:rPr>
              <a:t> (DB connection, starting server).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5"/>
          <p:cNvSpPr txBox="1"/>
          <p:nvPr/>
        </p:nvSpPr>
        <p:spPr>
          <a:xfrm>
            <a:off x="643800" y="2374450"/>
            <a:ext cx="71856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BeforeAll</a:t>
            </a:r>
            <a:endParaRPr sz="12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initAll()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b="1" i="1" lang="en" sz="12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"Initialize resources before all tests"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8" name="Google Shape;318;p55"/>
          <p:cNvSpPr txBox="1"/>
          <p:nvPr/>
        </p:nvSpPr>
        <p:spPr>
          <a:xfrm>
            <a:off x="477925" y="3682850"/>
            <a:ext cx="85560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Notes: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Method </a:t>
            </a:r>
            <a:r>
              <a:rPr b="1" lang="en" sz="1300">
                <a:solidFill>
                  <a:schemeClr val="dk1"/>
                </a:solidFill>
              </a:rPr>
              <a:t>must be static</a:t>
            </a:r>
            <a:r>
              <a:rPr lang="en" sz="1300">
                <a:solidFill>
                  <a:schemeClr val="dk1"/>
                </a:solidFill>
              </a:rPr>
              <a:t> in JUnit 5 unless using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@TestInstance(Lifecycle.PER_CLASS)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25" name="Google Shape;325;p5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6" name="Google Shape;326;p56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@AfterAll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Runs </a:t>
            </a:r>
            <a:r>
              <a:rPr b="1" lang="en" sz="1300">
                <a:solidFill>
                  <a:schemeClr val="dk1"/>
                </a:solidFill>
              </a:rPr>
              <a:t>once after all test methods</a:t>
            </a:r>
            <a:r>
              <a:rPr lang="en" sz="1300">
                <a:solidFill>
                  <a:schemeClr val="dk1"/>
                </a:solidFill>
              </a:rPr>
              <a:t> in the class.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Typically used for </a:t>
            </a:r>
            <a:r>
              <a:rPr b="1" lang="en" sz="1300">
                <a:solidFill>
                  <a:schemeClr val="dk1"/>
                </a:solidFill>
              </a:rPr>
              <a:t>cleanup after all tests</a:t>
            </a:r>
            <a:r>
              <a:rPr lang="en" sz="1300">
                <a:solidFill>
                  <a:schemeClr val="dk1"/>
                </a:solidFill>
              </a:rPr>
              <a:t> (close DB, shutdown server).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6"/>
          <p:cNvSpPr txBox="1"/>
          <p:nvPr/>
        </p:nvSpPr>
        <p:spPr>
          <a:xfrm>
            <a:off x="477925" y="3682850"/>
            <a:ext cx="85560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Notes: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Method </a:t>
            </a:r>
            <a:r>
              <a:rPr b="1" lang="en" sz="1300">
                <a:solidFill>
                  <a:schemeClr val="dk1"/>
                </a:solidFill>
              </a:rPr>
              <a:t>must be static</a:t>
            </a:r>
            <a:r>
              <a:rPr lang="en" sz="1300">
                <a:solidFill>
                  <a:schemeClr val="dk1"/>
                </a:solidFill>
              </a:rPr>
              <a:t> in JUnit 5 unless using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@TestInstance(Lifecycle.PER_CLASS)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28" name="Google Shape;328;p56"/>
          <p:cNvSpPr txBox="1"/>
          <p:nvPr/>
        </p:nvSpPr>
        <p:spPr>
          <a:xfrm>
            <a:off x="269975" y="2571750"/>
            <a:ext cx="7650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AfterAll</a:t>
            </a:r>
            <a:endParaRPr sz="12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tearDownAll()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b="1" i="1" lang="en" sz="12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lang="en" sz="12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"Clean up resources after all tests"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35" name="Google Shape;335;p5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6" name="Google Shape;336;p57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@ExtendWith(MockitoExtension.class)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Integrates </a:t>
            </a:r>
            <a:r>
              <a:rPr b="1" lang="en" sz="1300">
                <a:solidFill>
                  <a:schemeClr val="dk1"/>
                </a:solidFill>
              </a:rPr>
              <a:t>Mockito</a:t>
            </a:r>
            <a:r>
              <a:rPr lang="en" sz="1300">
                <a:solidFill>
                  <a:schemeClr val="dk1"/>
                </a:solidFill>
              </a:rPr>
              <a:t> with JUnit 5.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Enables </a:t>
            </a:r>
            <a:r>
              <a:rPr b="1" lang="en" sz="1300">
                <a:solidFill>
                  <a:schemeClr val="dk1"/>
                </a:solidFill>
              </a:rPr>
              <a:t>Mockito annotations</a:t>
            </a:r>
            <a:r>
              <a:rPr lang="en" sz="1300">
                <a:solidFill>
                  <a:schemeClr val="dk1"/>
                </a:solidFill>
              </a:rPr>
              <a:t> like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@Mock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@InjectMocks</a:t>
            </a:r>
            <a:r>
              <a:rPr lang="en" sz="1300">
                <a:solidFill>
                  <a:schemeClr val="dk1"/>
                </a:solidFill>
              </a:rPr>
              <a:t> to work automatically.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7"/>
          <p:cNvSpPr txBox="1"/>
          <p:nvPr/>
        </p:nvSpPr>
        <p:spPr>
          <a:xfrm>
            <a:off x="276900" y="2630600"/>
            <a:ext cx="79680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 in test: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Automatically initializes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@Mock</a:t>
            </a:r>
            <a:r>
              <a:rPr lang="en" sz="1300">
                <a:solidFill>
                  <a:schemeClr val="dk1"/>
                </a:solidFill>
              </a:rPr>
              <a:t> objects and injects them into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@InjectMocks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Removes the need to manually call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MockitoAnnotations.openMocks(this)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44" name="Google Shape;344;p5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5" name="Google Shape;345;p58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@Mock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Creates a </a:t>
            </a:r>
            <a:r>
              <a:rPr b="1" lang="en" sz="1300">
                <a:solidFill>
                  <a:schemeClr val="dk1"/>
                </a:solidFill>
              </a:rPr>
              <a:t>mock object</a:t>
            </a:r>
            <a:r>
              <a:rPr lang="en" sz="1300">
                <a:solidFill>
                  <a:schemeClr val="dk1"/>
                </a:solidFill>
              </a:rPr>
              <a:t> for a dependency.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Mocks simulate </a:t>
            </a:r>
            <a:r>
              <a:rPr b="1" lang="en" sz="1300">
                <a:solidFill>
                  <a:schemeClr val="dk1"/>
                </a:solidFill>
              </a:rPr>
              <a:t>behavior of real objects</a:t>
            </a:r>
            <a:r>
              <a:rPr lang="en" sz="1300">
                <a:solidFill>
                  <a:schemeClr val="dk1"/>
                </a:solidFill>
              </a:rPr>
              <a:t> without requiring a database or service.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8"/>
          <p:cNvSpPr txBox="1"/>
          <p:nvPr/>
        </p:nvSpPr>
        <p:spPr>
          <a:xfrm>
            <a:off x="276900" y="2630600"/>
            <a:ext cx="7968000" cy="1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 in test: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UserRepository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RoleRepository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PasswordEncoder</a:t>
            </a:r>
            <a:r>
              <a:rPr lang="en" sz="1300">
                <a:solidFill>
                  <a:schemeClr val="dk1"/>
                </a:solidFill>
              </a:rPr>
              <a:t> are mocked so tests don’t hit the real DB or encrypt passwords.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Example: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47" name="Google Shape;347;p58"/>
          <p:cNvSpPr txBox="1"/>
          <p:nvPr/>
        </p:nvSpPr>
        <p:spPr>
          <a:xfrm>
            <a:off x="715300" y="4071550"/>
            <a:ext cx="60918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3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@Mock</a:t>
            </a:r>
            <a:endParaRPr sz="13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UserRepository </a:t>
            </a:r>
            <a:r>
              <a:rPr lang="en" sz="13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userRepository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54" name="Google Shape;354;p5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5" name="Google Shape;355;p59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@InjectMocks</a:t>
            </a:r>
            <a:endParaRPr b="1" sz="13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Creates an instance of the </a:t>
            </a:r>
            <a:r>
              <a:rPr b="1" lang="en" sz="1300">
                <a:solidFill>
                  <a:schemeClr val="dk1"/>
                </a:solidFill>
              </a:rPr>
              <a:t>class under test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injects the mocked dependencies</a:t>
            </a:r>
            <a:r>
              <a:rPr lang="en" sz="1300">
                <a:solidFill>
                  <a:schemeClr val="dk1"/>
                </a:solidFill>
              </a:rPr>
              <a:t> into it.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9"/>
          <p:cNvSpPr txBox="1"/>
          <p:nvPr/>
        </p:nvSpPr>
        <p:spPr>
          <a:xfrm>
            <a:off x="415350" y="2283000"/>
            <a:ext cx="7968000" cy="1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 in test: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UserService</a:t>
            </a:r>
            <a:r>
              <a:rPr lang="en" sz="1300">
                <a:solidFill>
                  <a:schemeClr val="dk1"/>
                </a:solidFill>
              </a:rPr>
              <a:t> is created with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userRepository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roleRepository</a:t>
            </a:r>
            <a:r>
              <a:rPr lang="en" sz="1300">
                <a:solidFill>
                  <a:schemeClr val="dk1"/>
                </a:solidFill>
              </a:rPr>
              <a:t>, and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passwordEncoder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chemeClr val="dk1"/>
                </a:solidFill>
              </a:rPr>
              <a:t>mocked automatically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Example: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7" name="Google Shape;357;p59"/>
          <p:cNvSpPr txBox="1"/>
          <p:nvPr/>
        </p:nvSpPr>
        <p:spPr>
          <a:xfrm>
            <a:off x="685325" y="4112025"/>
            <a:ext cx="51642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3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@InjectMocks</a:t>
            </a:r>
            <a:endParaRPr sz="13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UserService </a:t>
            </a:r>
            <a:r>
              <a:rPr lang="en" sz="13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userService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64" name="Google Shape;364;p6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5" name="Google Shape;365;p60"/>
          <p:cNvSpPr/>
          <p:nvPr/>
        </p:nvSpPr>
        <p:spPr>
          <a:xfrm>
            <a:off x="379350" y="1200150"/>
            <a:ext cx="84330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You should have a simplified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UserService</a:t>
            </a:r>
            <a:r>
              <a:rPr lang="en" sz="1300">
                <a:solidFill>
                  <a:schemeClr val="dk1"/>
                </a:solidFill>
              </a:rPr>
              <a:t> that allows: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Creating users (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createUser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Checking for duplicate usernames</a:t>
            </a:r>
            <a:endParaRPr sz="1300">
              <a:solidFill>
                <a:schemeClr val="dk1"/>
              </a:solidFill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Assigning roles to users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Create unit test for those scenarios (both successful and failed)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60"/>
          <p:cNvSpPr txBox="1"/>
          <p:nvPr/>
        </p:nvSpPr>
        <p:spPr>
          <a:xfrm>
            <a:off x="519200" y="1100700"/>
            <a:ext cx="798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Exercise #1: Create JUnit for UserService</a:t>
            </a:r>
            <a:endParaRPr b="1" sz="1300" u="sng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