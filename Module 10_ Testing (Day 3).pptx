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  <p:sldMasterId id="214748368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IBM Plex Sans"/>
      <p:regular r:id="rId29"/>
      <p:bold r:id="rId30"/>
      <p:italic r:id="rId31"/>
      <p:boldItalic r:id="rId32"/>
    </p:embeddedFont>
    <p:embeddedFont>
      <p:font typeface="Arial Black"/>
      <p:regular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IBMPlexSans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BMPlexSans-italic.fntdata"/><Relationship Id="rId30" Type="http://schemas.openxmlformats.org/officeDocument/2006/relationships/font" Target="fonts/IBMPlexSans-bold.fntdata"/><Relationship Id="rId11" Type="http://schemas.openxmlformats.org/officeDocument/2006/relationships/slide" Target="slides/slide4.xml"/><Relationship Id="rId33" Type="http://schemas.openxmlformats.org/officeDocument/2006/relationships/font" Target="fonts/ArialBlack-regular.fntdata"/><Relationship Id="rId10" Type="http://schemas.openxmlformats.org/officeDocument/2006/relationships/slide" Target="slides/slide3.xml"/><Relationship Id="rId32" Type="http://schemas.openxmlformats.org/officeDocument/2006/relationships/font" Target="fonts/IBMPlexSans-boldItalic.fntdata"/><Relationship Id="rId13" Type="http://schemas.openxmlformats.org/officeDocument/2006/relationships/slide" Target="slides/slide6.xml"/><Relationship Id="rId35" Type="http://schemas.openxmlformats.org/officeDocument/2006/relationships/font" Target="fonts/RobotoMono-bold.fntdata"/><Relationship Id="rId12" Type="http://schemas.openxmlformats.org/officeDocument/2006/relationships/slide" Target="slides/slide5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8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7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cf5223eb_0_64:notes"/>
          <p:cNvSpPr txBox="1"/>
          <p:nvPr>
            <p:ph idx="1" type="body"/>
          </p:nvPr>
        </p:nvSpPr>
        <p:spPr>
          <a:xfrm>
            <a:off x="760343" y="4699239"/>
            <a:ext cx="6082200" cy="44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3cf5223eb_0_64:notes"/>
          <p:cNvSpPr/>
          <p:nvPr>
            <p:ph idx="2" type="sldImg"/>
          </p:nvPr>
        </p:nvSpPr>
        <p:spPr>
          <a:xfrm>
            <a:off x="521922" y="751751"/>
            <a:ext cx="6558900" cy="37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51c6d58e0_0_3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b51c6d58e0_0_3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b51c6d58e0_0_3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29e2168bc_0_10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d29e2168bc_0_10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d29e2168bc_0_10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f4d221f3d_0_1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cf4d221f3d_0_1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cf4d221f3d_0_1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29e2168bc_0_3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d29e2168bc_0_3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d29e2168bc_0_3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25afa492a_0_5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d25afa492a_0_5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d25afa492a_0_5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29e2168bc_0_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g3d29e2168bc_0_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d29e2168bc_0_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29e2168bc_0_5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d29e2168bc_0_5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d29e2168bc_0_5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29e2168bc_0_1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3d29e2168bc_0_1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d29e2168bc_0_1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29e2168bc_0_4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d29e2168bc_0_4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d29e2168bc_0_4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29e2168bc_0_6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g3d29e2168bc_0_6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d29e2168bc_0_6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29e2168bc_0_7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d29e2168bc_0_7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d29e2168bc_0_7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29e2168bc_0_8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g3d29e2168bc_0_8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d29e2168bc_0_8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29e2168bc_0_11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g3d29e2168bc_0_11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d29e2168bc_0_11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29e2168bc_0_9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d29e2168bc_0_9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d29e2168bc_0_9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29e2168bc_0_11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g3d29e2168bc_0_11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d29e2168bc_0_11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29e2168bc_0_12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g3d29e2168bc_0_12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d29e2168bc_0_12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29e2168bc_0_13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g3d29e2168bc_0_13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d29e2168bc_0_13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29e2168bc_0_14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d29e2168bc_0_14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d29e2168bc_0_14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29e2168bc_0_15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g3d29e2168bc_0_15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d29e2168bc_0_15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29e2168bc_0_16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g3d29e2168bc_0_16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d29e2168bc_0_16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8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2.jp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>
            <a:off x="2708100" y="732510"/>
            <a:ext cx="0" cy="3429000"/>
          </a:xfrm>
          <a:prstGeom prst="straightConnector1">
            <a:avLst/>
          </a:prstGeom>
          <a:noFill/>
          <a:ln cap="flat" cmpd="sng" w="21325">
            <a:solidFill>
              <a:srgbClr val="9B1D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" name="Google Shape;56;p13"/>
          <p:cNvSpPr/>
          <p:nvPr/>
        </p:nvSpPr>
        <p:spPr>
          <a:xfrm>
            <a:off x="8000910" y="0"/>
            <a:ext cx="1066200" cy="589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10" y="1566000"/>
            <a:ext cx="2609010" cy="2010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type="title"/>
          </p:nvPr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79350" y="1200150"/>
            <a:ext cx="83844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9"/>
          <p:cNvSpPr/>
          <p:nvPr/>
        </p:nvSpPr>
        <p:spPr>
          <a:xfrm>
            <a:off x="2886030" y="737640"/>
            <a:ext cx="51141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4000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000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Module 10: Testing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p39"/>
          <p:cNvSpPr/>
          <p:nvPr/>
        </p:nvSpPr>
        <p:spPr>
          <a:xfrm>
            <a:off x="2886030" y="2919780"/>
            <a:ext cx="51141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Calibri"/>
                <a:ea typeface="Calibri"/>
                <a:cs typeface="Calibri"/>
                <a:sym typeface="Calibri"/>
              </a:rPr>
              <a:t>A BPI Training Program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0" y="4841640"/>
            <a:ext cx="7611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76" name="Google Shape;176;p4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7" name="Google Shape;177;p40"/>
          <p:cNvSpPr/>
          <p:nvPr/>
        </p:nvSpPr>
        <p:spPr>
          <a:xfrm>
            <a:off x="379800" y="94402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C9211E"/>
                </a:solidFill>
              </a:rPr>
              <a:t>Day 3 - Web Layer Testing and Best Practices</a:t>
            </a:r>
            <a:endParaRPr b="1" sz="4000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4" name="Google Shape;184;p4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5" name="Google Shape;185;p41"/>
          <p:cNvSpPr/>
          <p:nvPr/>
        </p:nvSpPr>
        <p:spPr>
          <a:xfrm>
            <a:off x="379800" y="94402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C9211E"/>
                </a:solidFill>
              </a:rPr>
              <a:t>Web Layer Testing</a:t>
            </a:r>
            <a:endParaRPr b="1" sz="4000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92" name="Google Shape;192;p4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3" name="Google Shape;193;p42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What is Web Layer?</a:t>
            </a:r>
            <a:endParaRPr b="1" sz="20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Web Layer = Controller + Filters + Interceptors + Spring MVC config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Handles: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Incoming </a:t>
            </a:r>
            <a:r>
              <a:rPr b="1" lang="en" sz="1300">
                <a:solidFill>
                  <a:schemeClr val="dk1"/>
                </a:solidFill>
              </a:rPr>
              <a:t>HTTP requests</a:t>
            </a:r>
            <a:endParaRPr b="1"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Routing</a:t>
            </a:r>
            <a:r>
              <a:rPr lang="en" sz="1300">
                <a:solidFill>
                  <a:schemeClr val="dk1"/>
                </a:solidFill>
              </a:rPr>
              <a:t> to services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Response generation</a:t>
            </a:r>
            <a:r>
              <a:rPr lang="en" sz="1300">
                <a:solidFill>
                  <a:schemeClr val="dk1"/>
                </a:solidFill>
              </a:rPr>
              <a:t> (JSON, HTML, etc.)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42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01" name="Google Shape;201;p4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2" name="Google Shape;202;p43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What is Web Layer Testing?</a:t>
            </a:r>
            <a:endParaRPr b="1" sz="20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Tests the </a:t>
            </a:r>
            <a:r>
              <a:rPr b="1" lang="en" sz="1300">
                <a:solidFill>
                  <a:schemeClr val="dk1"/>
                </a:solidFill>
              </a:rPr>
              <a:t>Spring MVC / web layer</a:t>
            </a:r>
            <a:r>
              <a:rPr lang="en" sz="1300">
                <a:solidFill>
                  <a:schemeClr val="dk1"/>
                </a:solidFill>
              </a:rPr>
              <a:t> only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Focuses on </a:t>
            </a:r>
            <a:r>
              <a:rPr b="1" lang="en" sz="1300">
                <a:solidFill>
                  <a:schemeClr val="dk1"/>
                </a:solidFill>
              </a:rPr>
              <a:t>controllers, REST endpoints, filters, interceptors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Validates </a:t>
            </a:r>
            <a:r>
              <a:rPr b="1" lang="en" sz="1300">
                <a:solidFill>
                  <a:schemeClr val="dk1"/>
                </a:solidFill>
              </a:rPr>
              <a:t>HTTP requests, responses, and status codes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Does not load the full application context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43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10" name="Google Shape;210;p4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1" name="Google Shape;211;p44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Why Web Layer Testing Matters?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44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4"/>
          <p:cNvSpPr txBox="1"/>
          <p:nvPr/>
        </p:nvSpPr>
        <p:spPr>
          <a:xfrm>
            <a:off x="242300" y="1684900"/>
            <a:ext cx="5178000" cy="1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Detects controller-level problems </a:t>
            </a:r>
            <a:r>
              <a:rPr b="1" lang="en" sz="1300">
                <a:solidFill>
                  <a:schemeClr val="dk1"/>
                </a:solidFill>
              </a:rPr>
              <a:t>early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Faster than full integration tests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@SpringBootTest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Keeps tests </a:t>
            </a:r>
            <a:r>
              <a:rPr b="1" lang="en" sz="1300">
                <a:solidFill>
                  <a:schemeClr val="dk1"/>
                </a:solidFill>
              </a:rPr>
              <a:t>focused &amp; maintainable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Ensures </a:t>
            </a:r>
            <a:r>
              <a:rPr b="1" lang="en" sz="1300">
                <a:solidFill>
                  <a:schemeClr val="dk1"/>
                </a:solidFill>
              </a:rPr>
              <a:t>HTTP endpoints behave correctly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0" name="Google Shape;220;p4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1" name="Google Shape;221;p45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How to Test the Web Layer?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45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5"/>
          <p:cNvSpPr txBox="1"/>
          <p:nvPr/>
        </p:nvSpPr>
        <p:spPr>
          <a:xfrm>
            <a:off x="242300" y="1684900"/>
            <a:ext cx="5178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@WebMvcTest</a:t>
            </a:r>
            <a:r>
              <a:rPr lang="en" sz="1300">
                <a:solidFill>
                  <a:schemeClr val="dk1"/>
                </a:solidFill>
              </a:rPr>
              <a:t> → loads only </a:t>
            </a:r>
            <a:r>
              <a:rPr b="1" lang="en" sz="1300">
                <a:solidFill>
                  <a:schemeClr val="dk1"/>
                </a:solidFill>
              </a:rPr>
              <a:t>controller beans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MockMvc</a:t>
            </a:r>
            <a:r>
              <a:rPr lang="en" sz="1300">
                <a:solidFill>
                  <a:schemeClr val="dk1"/>
                </a:solidFill>
              </a:rPr>
              <a:t> → simulate HTTP requests &amp; assert responses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@MockBean</a:t>
            </a:r>
            <a:r>
              <a:rPr lang="en" sz="1300">
                <a:solidFill>
                  <a:schemeClr val="dk1"/>
                </a:solidFill>
              </a:rPr>
              <a:t> → mock service dependencies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30" name="Google Shape;230;p4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1" name="Google Shape;231;p46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@WebMvcTest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46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6"/>
          <p:cNvSpPr txBox="1"/>
          <p:nvPr/>
        </p:nvSpPr>
        <p:spPr>
          <a:xfrm>
            <a:off x="242300" y="1684900"/>
            <a:ext cx="51780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Loads only the controller and related MVC components.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Does </a:t>
            </a:r>
            <a:r>
              <a:rPr b="1" lang="en" sz="1300">
                <a:solidFill>
                  <a:schemeClr val="dk1"/>
                </a:solidFill>
              </a:rPr>
              <a:t>not load full Spring context</a:t>
            </a:r>
            <a:r>
              <a:rPr lang="en" sz="1300">
                <a:solidFill>
                  <a:schemeClr val="dk1"/>
                </a:solidFill>
              </a:rPr>
              <a:t>, making tests faster.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0" name="Google Shape;240;p4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1" name="Google Shape;241;p47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MockMvc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47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7"/>
          <p:cNvSpPr txBox="1"/>
          <p:nvPr/>
        </p:nvSpPr>
        <p:spPr>
          <a:xfrm>
            <a:off x="242300" y="1684900"/>
            <a:ext cx="51780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Simulate HTTP requests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Assert response </a:t>
            </a:r>
            <a:r>
              <a:rPr b="1" lang="en" sz="1300">
                <a:solidFill>
                  <a:schemeClr val="dk1"/>
                </a:solidFill>
              </a:rPr>
              <a:t>status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b="1" lang="en" sz="1300">
                <a:solidFill>
                  <a:schemeClr val="dk1"/>
                </a:solidFill>
              </a:rPr>
              <a:t>headers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b="1" lang="en" sz="1300">
                <a:solidFill>
                  <a:schemeClr val="dk1"/>
                </a:solidFill>
              </a:rPr>
              <a:t>body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50" name="Google Shape;250;p4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1" name="Google Shape;251;p48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@MockBean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48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8"/>
          <p:cNvSpPr txBox="1"/>
          <p:nvPr/>
        </p:nvSpPr>
        <p:spPr>
          <a:xfrm>
            <a:off x="242300" y="1684900"/>
            <a:ext cx="51780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Mock dependencies (services, repositories etc.)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Isolate controller logic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60" name="Google Shape;260;p4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1" name="Google Shape;261;p49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ObjectMapper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9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9"/>
          <p:cNvSpPr txBox="1"/>
          <p:nvPr/>
        </p:nvSpPr>
        <p:spPr>
          <a:xfrm>
            <a:off x="242300" y="1684900"/>
            <a:ext cx="5178000" cy="1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When using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MockMvc</a:t>
            </a:r>
            <a:r>
              <a:rPr lang="en" sz="1300">
                <a:solidFill>
                  <a:schemeClr val="dk1"/>
                </a:solidFill>
              </a:rPr>
              <a:t>, the request body is </a:t>
            </a:r>
            <a:r>
              <a:rPr b="1" lang="en" sz="1300">
                <a:solidFill>
                  <a:schemeClr val="dk1"/>
                </a:solidFill>
              </a:rPr>
              <a:t>JSON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ObjectMapper</a:t>
            </a:r>
            <a:r>
              <a:rPr lang="en" sz="1300">
                <a:solidFill>
                  <a:schemeClr val="dk1"/>
                </a:solidFill>
              </a:rPr>
              <a:t> lets you </a:t>
            </a:r>
            <a:r>
              <a:rPr b="1" lang="en" sz="1300">
                <a:solidFill>
                  <a:schemeClr val="dk1"/>
                </a:solidFill>
              </a:rPr>
              <a:t>convert your DTOs to JSON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parse JSON responses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Ensures the tests mirror real HTTP requests/responses.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70" name="Google Shape;270;p5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1" name="Google Shape;271;p50"/>
          <p:cNvSpPr/>
          <p:nvPr/>
        </p:nvSpPr>
        <p:spPr>
          <a:xfrm>
            <a:off x="379350" y="1200150"/>
            <a:ext cx="80592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Test Method Example - Positive Scenario (Web Layer Test)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0"/>
          <p:cNvSpPr txBox="1"/>
          <p:nvPr/>
        </p:nvSpPr>
        <p:spPr>
          <a:xfrm>
            <a:off x="443050" y="1672625"/>
            <a:ext cx="76503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@Test</a:t>
            </a:r>
            <a:endParaRPr sz="10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createUser_shouldReturnOk_whenUserIsCreated()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Exception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	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UserDTO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userDTO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UserDTO();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userDTO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.setUsername(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userDTO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.setPassword(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"password123"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User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.setUsername(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userService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.createUser(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(UserDTO.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))).thenReturn(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mockMvc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.perform(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"/api/users/create"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.contentType(MediaType.</a:t>
            </a:r>
            <a:r>
              <a:rPr b="1" i="1"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APPLICATION_JSON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.content(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objectMapper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.writeValueAsString(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userDTO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.andExpect(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().isOk())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.andExpect(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().string(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 created with username: Alice"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79" name="Google Shape;279;p5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0" name="Google Shape;280;p51"/>
          <p:cNvSpPr/>
          <p:nvPr/>
        </p:nvSpPr>
        <p:spPr>
          <a:xfrm>
            <a:off x="379350" y="1200150"/>
            <a:ext cx="80592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Test Method Example - Negative Scenario (Web Layer Test)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1"/>
          <p:cNvSpPr txBox="1"/>
          <p:nvPr/>
        </p:nvSpPr>
        <p:spPr>
          <a:xfrm>
            <a:off x="332300" y="1820650"/>
            <a:ext cx="78087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@Test</a:t>
            </a:r>
            <a:endParaRPr sz="10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createUser_shouldReturnBadRequest_whenServiceThrowsException()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Exception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UserDTO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userDTO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UserDTO();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userDTO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.setUsername(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userDTO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.setPassword(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"pass123"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userService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.createUser(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(UserDTO.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.thenThrow(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RuntimeException(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"Username already exists"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mockMvc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.perform(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"/api/users/create"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.contentType(MediaType.</a:t>
            </a:r>
            <a:r>
              <a:rPr b="1" i="1" lang="en" sz="1000" u="sng">
                <a:solidFill>
                  <a:srgbClr val="0066C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APPLICATION_JSON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.content(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objectMapper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.writeValueAsString(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userDTO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.andExpect(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().isBadRequest())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.andExpect(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().string(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"Username already exists"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88" name="Google Shape;288;p5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9" name="Google Shape;289;p52"/>
          <p:cNvSpPr/>
          <p:nvPr/>
        </p:nvSpPr>
        <p:spPr>
          <a:xfrm>
            <a:off x="372800" y="73632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C9211E"/>
                </a:solidFill>
              </a:rPr>
              <a:t>Best Practices in Software Testing</a:t>
            </a:r>
            <a:endParaRPr b="1" sz="4000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96" name="Google Shape;296;p5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7" name="Google Shape;297;p53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General Testing Principles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53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3"/>
          <p:cNvSpPr txBox="1"/>
          <p:nvPr/>
        </p:nvSpPr>
        <p:spPr>
          <a:xfrm>
            <a:off x="242300" y="1684900"/>
            <a:ext cx="5178000" cy="3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Test Pyramid Concept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Unit tests</a:t>
            </a:r>
            <a:r>
              <a:rPr lang="en" sz="1200">
                <a:solidFill>
                  <a:schemeClr val="dk1"/>
                </a:solidFill>
              </a:rPr>
              <a:t> → fast, test logic in isolation.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Integration tests</a:t>
            </a:r>
            <a:r>
              <a:rPr lang="en" sz="1200">
                <a:solidFill>
                  <a:schemeClr val="dk1"/>
                </a:solidFill>
              </a:rPr>
              <a:t> → test multiple components working together.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End-to-end tests</a:t>
            </a:r>
            <a:r>
              <a:rPr lang="en" sz="1200">
                <a:solidFill>
                  <a:schemeClr val="dk1"/>
                </a:solidFill>
              </a:rPr>
              <a:t> → simulate real user workflows.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Keep tests independent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Each test should run independently of others.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Avoid shared state or reliance on execution order.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Readable and maintainable tests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Use descriptive test method names.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Follow </a:t>
            </a:r>
            <a:r>
              <a:rPr b="1" lang="en" sz="1200">
                <a:solidFill>
                  <a:schemeClr val="dk1"/>
                </a:solidFill>
              </a:rPr>
              <a:t>Arrange-Act-Assert (AAA)</a:t>
            </a:r>
            <a:r>
              <a:rPr lang="en" sz="1200">
                <a:solidFill>
                  <a:schemeClr val="dk1"/>
                </a:solidFill>
              </a:rPr>
              <a:t> pattern.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Repeatable and deterministic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Avoid randomness or reliance on external systems unless mocked.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06" name="Google Shape;306;p5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7" name="Google Shape;307;p54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Unit Testing Best Practices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54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54"/>
          <p:cNvSpPr txBox="1"/>
          <p:nvPr/>
        </p:nvSpPr>
        <p:spPr>
          <a:xfrm>
            <a:off x="242300" y="1684900"/>
            <a:ext cx="5178000" cy="21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chemeClr val="dk1"/>
                </a:solidFill>
              </a:rPr>
              <a:t>Mockito</a:t>
            </a:r>
            <a:r>
              <a:rPr lang="en" sz="1300">
                <a:solidFill>
                  <a:schemeClr val="dk1"/>
                </a:solidFill>
              </a:rPr>
              <a:t> to mock dependencies.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Test only </a:t>
            </a:r>
            <a:r>
              <a:rPr b="1" lang="en" sz="1300">
                <a:solidFill>
                  <a:schemeClr val="dk1"/>
                </a:solidFill>
              </a:rPr>
              <a:t>one unit of behavior</a:t>
            </a:r>
            <a:r>
              <a:rPr lang="en" sz="1300">
                <a:solidFill>
                  <a:schemeClr val="dk1"/>
                </a:solidFill>
              </a:rPr>
              <a:t> per test method.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Prefer </a:t>
            </a:r>
            <a:r>
              <a:rPr b="1" lang="en" sz="1300">
                <a:solidFill>
                  <a:schemeClr val="dk1"/>
                </a:solidFill>
              </a:rPr>
              <a:t>constructor injection</a:t>
            </a:r>
            <a:r>
              <a:rPr lang="en" sz="1300">
                <a:solidFill>
                  <a:schemeClr val="dk1"/>
                </a:solidFill>
              </a:rPr>
              <a:t> to make dependencies easier to mock.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Assert both </a:t>
            </a:r>
            <a:r>
              <a:rPr b="1" lang="en" sz="1300">
                <a:solidFill>
                  <a:schemeClr val="dk1"/>
                </a:solidFill>
              </a:rPr>
              <a:t>outputs and side effects</a:t>
            </a:r>
            <a:r>
              <a:rPr lang="en" sz="1300">
                <a:solidFill>
                  <a:schemeClr val="dk1"/>
                </a:solidFill>
              </a:rPr>
              <a:t> (like calls to other services).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Keep tests </a:t>
            </a:r>
            <a:r>
              <a:rPr b="1" lang="en" sz="1300">
                <a:solidFill>
                  <a:schemeClr val="dk1"/>
                </a:solidFill>
              </a:rPr>
              <a:t>fast</a:t>
            </a:r>
            <a:r>
              <a:rPr lang="en" sz="1300">
                <a:solidFill>
                  <a:schemeClr val="dk1"/>
                </a:solidFill>
              </a:rPr>
              <a:t> → no database or network calls.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16" name="Google Shape;316;p5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7" name="Google Shape;317;p55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Integration</a:t>
            </a:r>
            <a:r>
              <a:rPr b="1" lang="en" sz="2000" u="sng">
                <a:solidFill>
                  <a:srgbClr val="C9211E"/>
                </a:solidFill>
              </a:rPr>
              <a:t> Testing Best Practices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55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55"/>
          <p:cNvSpPr txBox="1"/>
          <p:nvPr/>
        </p:nvSpPr>
        <p:spPr>
          <a:xfrm>
            <a:off x="242300" y="1684900"/>
            <a:ext cx="5178000" cy="1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chemeClr val="dk1"/>
                </a:solidFill>
              </a:rPr>
              <a:t>@SpringBootTest</a:t>
            </a:r>
            <a:r>
              <a:rPr lang="en" sz="1300">
                <a:solidFill>
                  <a:schemeClr val="dk1"/>
                </a:solidFill>
              </a:rPr>
              <a:t> for full context loading.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Keep integration tests </a:t>
            </a:r>
            <a:r>
              <a:rPr b="1" lang="en" sz="1300">
                <a:solidFill>
                  <a:schemeClr val="dk1"/>
                </a:solidFill>
              </a:rPr>
              <a:t>small and focused</a:t>
            </a:r>
            <a:r>
              <a:rPr lang="en" sz="1300">
                <a:solidFill>
                  <a:schemeClr val="dk1"/>
                </a:solidFill>
              </a:rPr>
              <a:t>, not full end-to-end flows unless necessary.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chemeClr val="dk1"/>
                </a:solidFill>
              </a:rPr>
              <a:t>in-memory databases (H2)</a:t>
            </a:r>
            <a:r>
              <a:rPr lang="en" sz="1300">
                <a:solidFill>
                  <a:schemeClr val="dk1"/>
                </a:solidFill>
              </a:rPr>
              <a:t> for DB isolation.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chemeClr val="dk1"/>
                </a:solidFill>
              </a:rPr>
              <a:t>@Transactional</a:t>
            </a:r>
            <a:r>
              <a:rPr lang="en" sz="1300">
                <a:solidFill>
                  <a:schemeClr val="dk1"/>
                </a:solidFill>
              </a:rPr>
              <a:t> in tests to rollback changes after each test.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26" name="Google Shape;326;p5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7" name="Google Shape;327;p56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Web Layer Testing Best Practices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56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56"/>
          <p:cNvSpPr txBox="1"/>
          <p:nvPr/>
        </p:nvSpPr>
        <p:spPr>
          <a:xfrm>
            <a:off x="242300" y="1684900"/>
            <a:ext cx="5178000" cy="1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chemeClr val="dk1"/>
                </a:solidFill>
              </a:rPr>
              <a:t>@WebMvcTest</a:t>
            </a:r>
            <a:r>
              <a:rPr lang="en" sz="1300">
                <a:solidFill>
                  <a:schemeClr val="dk1"/>
                </a:solidFill>
              </a:rPr>
              <a:t> for controller-focused tests.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Mock services using </a:t>
            </a:r>
            <a:r>
              <a:rPr b="1" lang="en" sz="1300">
                <a:solidFill>
                  <a:schemeClr val="dk1"/>
                </a:solidFill>
              </a:rPr>
              <a:t>@MockBean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Test </a:t>
            </a:r>
            <a:r>
              <a:rPr b="1" lang="en" sz="1300">
                <a:solidFill>
                  <a:schemeClr val="dk1"/>
                </a:solidFill>
              </a:rPr>
              <a:t>HTTP status codes, response bodies, and headers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Avoid hitting the database in pure controller tests.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36" name="Google Shape;336;p5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7" name="Google Shape;337;p57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Exception and Edge Cases Testing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57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7"/>
          <p:cNvSpPr txBox="1"/>
          <p:nvPr/>
        </p:nvSpPr>
        <p:spPr>
          <a:xfrm>
            <a:off x="242300" y="1684900"/>
            <a:ext cx="51780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Always test failure paths, not just happy paths.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chemeClr val="dk1"/>
                </a:solidFill>
              </a:rPr>
              <a:t>@ControllerAdvice</a:t>
            </a:r>
            <a:r>
              <a:rPr lang="en" sz="1300">
                <a:solidFill>
                  <a:schemeClr val="dk1"/>
                </a:solidFill>
              </a:rPr>
              <a:t> + </a:t>
            </a:r>
            <a:r>
              <a:rPr b="1" lang="en" sz="1300">
                <a:solidFill>
                  <a:schemeClr val="dk1"/>
                </a:solidFill>
              </a:rPr>
              <a:t>@ExceptionHandler</a:t>
            </a:r>
            <a:r>
              <a:rPr lang="en" sz="1300">
                <a:solidFill>
                  <a:schemeClr val="dk1"/>
                </a:solidFill>
              </a:rPr>
              <a:t> for global exception testing.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Verify </a:t>
            </a:r>
            <a:r>
              <a:rPr b="1" lang="en" sz="1300">
                <a:solidFill>
                  <a:schemeClr val="dk1"/>
                </a:solidFill>
              </a:rPr>
              <a:t>HTTP status codes</a:t>
            </a:r>
            <a:r>
              <a:rPr lang="en" sz="1300">
                <a:solidFill>
                  <a:schemeClr val="dk1"/>
                </a:solidFill>
              </a:rPr>
              <a:t> match exception types.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Validate inputs with </a:t>
            </a:r>
            <a:r>
              <a:rPr b="1" lang="en" sz="1300">
                <a:solidFill>
                  <a:schemeClr val="dk1"/>
                </a:solidFill>
              </a:rPr>
              <a:t>@Valid</a:t>
            </a:r>
            <a:r>
              <a:rPr lang="en" sz="1300">
                <a:solidFill>
                  <a:schemeClr val="dk1"/>
                </a:solidFill>
              </a:rPr>
              <a:t> and test validation errors.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46" name="Google Shape;346;p5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7" name="Google Shape;347;p58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Test Maintenance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58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8"/>
          <p:cNvSpPr txBox="1"/>
          <p:nvPr/>
        </p:nvSpPr>
        <p:spPr>
          <a:xfrm>
            <a:off x="242300" y="1684900"/>
            <a:ext cx="5178000" cy="1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Keep </a:t>
            </a:r>
            <a:r>
              <a:rPr b="1" lang="en" sz="1300">
                <a:solidFill>
                  <a:schemeClr val="dk1"/>
                </a:solidFill>
              </a:rPr>
              <a:t>test data consistent</a:t>
            </a:r>
            <a:r>
              <a:rPr lang="en" sz="1300">
                <a:solidFill>
                  <a:schemeClr val="dk1"/>
                </a:solidFill>
              </a:rPr>
              <a:t> and isolated.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chemeClr val="dk1"/>
                </a:solidFill>
              </a:rPr>
              <a:t>factories or builders</a:t>
            </a:r>
            <a:r>
              <a:rPr lang="en" sz="1300">
                <a:solidFill>
                  <a:schemeClr val="dk1"/>
                </a:solidFill>
              </a:rPr>
              <a:t> for creating DTOs/entities in tests.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Avoid hardcoding values in multiple places; centralize them.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Regularly </a:t>
            </a:r>
            <a:r>
              <a:rPr b="1" lang="en" sz="1300">
                <a:solidFill>
                  <a:schemeClr val="dk1"/>
                </a:solidFill>
              </a:rPr>
              <a:t>review and refactor tests</a:t>
            </a:r>
            <a:r>
              <a:rPr lang="en" sz="1300">
                <a:solidFill>
                  <a:schemeClr val="dk1"/>
                </a:solidFill>
              </a:rPr>
              <a:t> as code evolves.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56" name="Google Shape;356;p5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7" name="Google Shape;357;p59"/>
          <p:cNvSpPr/>
          <p:nvPr/>
        </p:nvSpPr>
        <p:spPr>
          <a:xfrm>
            <a:off x="379350" y="1200150"/>
            <a:ext cx="79764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Exercise #3: Apply Web Layer Testing 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9"/>
          <p:cNvSpPr txBox="1"/>
          <p:nvPr/>
        </p:nvSpPr>
        <p:spPr>
          <a:xfrm>
            <a:off x="242300" y="1684900"/>
            <a:ext cx="8473200" cy="30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Objective: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Learn to write </a:t>
            </a:r>
            <a:r>
              <a:rPr b="1" lang="en" sz="1300">
                <a:solidFill>
                  <a:schemeClr val="dk1"/>
                </a:solidFill>
              </a:rPr>
              <a:t>unit tests for your Spring MVC controllers</a:t>
            </a:r>
            <a:r>
              <a:rPr lang="en" sz="1300">
                <a:solidFill>
                  <a:schemeClr val="dk1"/>
                </a:solidFill>
              </a:rPr>
              <a:t> using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@WebMvcTest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mock service dependencies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Create </a:t>
            </a:r>
            <a:r>
              <a:rPr b="1" lang="en" sz="1300">
                <a:solidFill>
                  <a:schemeClr val="dk1"/>
                </a:solidFill>
              </a:rPr>
              <a:t>UserControllerTest</a:t>
            </a:r>
            <a:r>
              <a:rPr lang="en" sz="1300">
                <a:solidFill>
                  <a:schemeClr val="dk1"/>
                </a:solidFill>
              </a:rPr>
              <a:t> - create positive and negative scenario testing for create user functionality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Test </a:t>
            </a:r>
            <a:r>
              <a:rPr b="1" lang="en" sz="1300">
                <a:solidFill>
                  <a:schemeClr val="dk1"/>
                </a:solidFill>
              </a:rPr>
              <a:t>HTTP Status codes, Request and Response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Add @Valid to your DTO and include it in the test scenarios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Add global exception handler to handle </a:t>
            </a:r>
            <a:r>
              <a:rPr b="1" lang="en" sz="1300">
                <a:solidFill>
                  <a:schemeClr val="dk1"/>
                </a:solidFill>
              </a:rPr>
              <a:t>UsernameAlreadyExist</a:t>
            </a:r>
            <a:r>
              <a:rPr lang="en" sz="1300">
                <a:solidFill>
                  <a:schemeClr val="dk1"/>
                </a:solidFill>
              </a:rPr>
              <a:t> exception - test this also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