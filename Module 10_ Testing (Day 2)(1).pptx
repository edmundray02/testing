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5"/>
    <p:sldMasterId id="2147483684" r:id="rId6"/>
    <p:sldMasterId id="214748368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y="5143500" cx="9144000"/>
  <p:notesSz cx="6858000" cy="9144000"/>
  <p:embeddedFontLst>
    <p:embeddedFont>
      <p:font typeface="IBM Plex Sans"/>
      <p:regular r:id="rId31"/>
      <p:bold r:id="rId32"/>
      <p:italic r:id="rId33"/>
      <p:boldItalic r:id="rId34"/>
    </p:embeddedFont>
    <p:embeddedFont>
      <p:font typeface="Arial Black"/>
      <p:regular r:id="rId35"/>
    </p:embeddedFont>
    <p:embeddedFont>
      <p:font typeface="Roboto Mon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E121AA-9FC4-48C5-AD3F-89E22C2F3148}">
  <a:tblStyle styleId="{3AE121AA-9FC4-48C5-AD3F-89E22C2F314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IBMPlexSans-regular.fntdata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font" Target="fonts/IBMPlexSans-italic.fntdata"/><Relationship Id="rId10" Type="http://schemas.openxmlformats.org/officeDocument/2006/relationships/slide" Target="slides/slide2.xml"/><Relationship Id="rId32" Type="http://schemas.openxmlformats.org/officeDocument/2006/relationships/font" Target="fonts/IBMPlexSans-bold.fntdata"/><Relationship Id="rId13" Type="http://schemas.openxmlformats.org/officeDocument/2006/relationships/slide" Target="slides/slide5.xml"/><Relationship Id="rId35" Type="http://schemas.openxmlformats.org/officeDocument/2006/relationships/font" Target="fonts/ArialBlack-regular.fntdata"/><Relationship Id="rId12" Type="http://schemas.openxmlformats.org/officeDocument/2006/relationships/slide" Target="slides/slide4.xml"/><Relationship Id="rId34" Type="http://schemas.openxmlformats.org/officeDocument/2006/relationships/font" Target="fonts/IBMPlexSans-boldItalic.fntdata"/><Relationship Id="rId15" Type="http://schemas.openxmlformats.org/officeDocument/2006/relationships/slide" Target="slides/slide7.xml"/><Relationship Id="rId37" Type="http://schemas.openxmlformats.org/officeDocument/2006/relationships/font" Target="fonts/RobotoMono-bold.fntdata"/><Relationship Id="rId14" Type="http://schemas.openxmlformats.org/officeDocument/2006/relationships/slide" Target="slides/slide6.xml"/><Relationship Id="rId36" Type="http://schemas.openxmlformats.org/officeDocument/2006/relationships/font" Target="fonts/RobotoMono-regular.fntdata"/><Relationship Id="rId17" Type="http://schemas.openxmlformats.org/officeDocument/2006/relationships/slide" Target="slides/slide9.xml"/><Relationship Id="rId39" Type="http://schemas.openxmlformats.org/officeDocument/2006/relationships/font" Target="fonts/RobotoMono-boldItalic.fntdata"/><Relationship Id="rId16" Type="http://schemas.openxmlformats.org/officeDocument/2006/relationships/slide" Target="slides/slide8.xml"/><Relationship Id="rId38" Type="http://schemas.openxmlformats.org/officeDocument/2006/relationships/font" Target="fonts/RobotoMono-italic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3cf5223eb_0_64:notes"/>
          <p:cNvSpPr txBox="1"/>
          <p:nvPr>
            <p:ph idx="1" type="body"/>
          </p:nvPr>
        </p:nvSpPr>
        <p:spPr>
          <a:xfrm>
            <a:off x="760343" y="4699239"/>
            <a:ext cx="6082200" cy="44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a3cf5223eb_0_64:notes"/>
          <p:cNvSpPr/>
          <p:nvPr>
            <p:ph idx="2" type="sldImg"/>
          </p:nvPr>
        </p:nvSpPr>
        <p:spPr>
          <a:xfrm>
            <a:off x="521922" y="751751"/>
            <a:ext cx="6558900" cy="37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51c6d58e0_0_33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g3b51c6d58e0_0_33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b51c6d58e0_0_33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f4d221f3d_0_12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g3cf4d221f3d_0_12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cf4d221f3d_0_12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25afa492a_0_5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g3d25afa492a_0_5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d25afa492a_0_5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25afa492a_0_17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g3d25afa492a_0_17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d25afa492a_0_17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25afa492a_0_29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g3d25afa492a_0_29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d25afa492a_0_29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25afa492a_0_40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g3d25afa492a_0_40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d25afa492a_0_40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25afa492a_0_52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g3d25afa492a_0_52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d25afa492a_0_52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25afa492a_0_70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g3d25afa492a_0_70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d25afa492a_0_70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25afa492a_0_84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g3d25afa492a_0_84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d25afa492a_0_84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25afa492a_0_96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g3d25afa492a_0_96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d25afa492a_0_96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25afa492a_0_108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g3d25afa492a_0_108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d25afa492a_0_108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25afa492a_0_121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g3d25afa492a_0_121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d25afa492a_0_121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25afa492a_0_133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g3d25afa492a_0_133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d25afa492a_0_133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d25afa492a_0_148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g3d25afa492a_0_148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d25afa492a_0_148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25afa492a_0_176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g3d25afa492a_0_176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d25afa492a_0_176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25afa492a_0_193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g3d25afa492a_0_193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d25afa492a_0_193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d25afa492a_0_208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Google Shape;336;g3d25afa492a_0_208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d25afa492a_0_208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25afa492a_0_219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g3d25afa492a_0_219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d25afa492a_0_219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d25afa492a_0_232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g3d25afa492a_0_232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d25afa492a_0_232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d25afa492a_1_0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g3d25afa492a_1_0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d25afa492a_1_0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d25afa492a_1_10:notes"/>
          <p:cNvSpPr/>
          <p:nvPr>
            <p:ph idx="2" type="sldImg"/>
          </p:nvPr>
        </p:nvSpPr>
        <p:spPr>
          <a:xfrm>
            <a:off x="701883" y="1143030"/>
            <a:ext cx="5453100" cy="308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Google Shape;379;g3d25afa492a_1_10:notes"/>
          <p:cNvSpPr txBox="1"/>
          <p:nvPr>
            <p:ph idx="1" type="body"/>
          </p:nvPr>
        </p:nvSpPr>
        <p:spPr>
          <a:xfrm>
            <a:off x="685683" y="4400380"/>
            <a:ext cx="54855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375" spcFirstLastPara="1" rIns="91375" wrap="square" tIns="4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d25afa492a_1_10:notes"/>
          <p:cNvSpPr/>
          <p:nvPr/>
        </p:nvSpPr>
        <p:spPr>
          <a:xfrm>
            <a:off x="3884478" y="8685325"/>
            <a:ext cx="2970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00" lIns="91375" spcFirstLastPara="1" rIns="91375" wrap="square" tIns="45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idx="1" type="subTitle"/>
          </p:nvPr>
        </p:nvSpPr>
        <p:spPr>
          <a:xfrm>
            <a:off x="457110" y="205200"/>
            <a:ext cx="8229300" cy="39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3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3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457110" y="120339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2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4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1" type="body"/>
          </p:nvPr>
        </p:nvSpPr>
        <p:spPr>
          <a:xfrm>
            <a:off x="45711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2" type="body"/>
          </p:nvPr>
        </p:nvSpPr>
        <p:spPr>
          <a:xfrm>
            <a:off x="323973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3" type="body"/>
          </p:nvPr>
        </p:nvSpPr>
        <p:spPr>
          <a:xfrm>
            <a:off x="602235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4" type="body"/>
          </p:nvPr>
        </p:nvSpPr>
        <p:spPr>
          <a:xfrm>
            <a:off x="45711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5" type="body"/>
          </p:nvPr>
        </p:nvSpPr>
        <p:spPr>
          <a:xfrm>
            <a:off x="323973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6" type="body"/>
          </p:nvPr>
        </p:nvSpPr>
        <p:spPr>
          <a:xfrm>
            <a:off x="602235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1" type="subTitle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9"/>
          <p:cNvSpPr txBox="1"/>
          <p:nvPr>
            <p:ph idx="1" type="body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0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30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30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2"/>
          <p:cNvSpPr txBox="1"/>
          <p:nvPr>
            <p:ph idx="1" type="subTitle"/>
          </p:nvPr>
        </p:nvSpPr>
        <p:spPr>
          <a:xfrm>
            <a:off x="457110" y="205200"/>
            <a:ext cx="8229300" cy="39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3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33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33"/>
          <p:cNvSpPr txBox="1"/>
          <p:nvPr>
            <p:ph idx="2" type="body"/>
          </p:nvPr>
        </p:nvSpPr>
        <p:spPr>
          <a:xfrm>
            <a:off x="467397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33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4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34"/>
          <p:cNvSpPr txBox="1"/>
          <p:nvPr>
            <p:ph idx="1" type="body"/>
          </p:nvPr>
        </p:nvSpPr>
        <p:spPr>
          <a:xfrm>
            <a:off x="457110" y="1203390"/>
            <a:ext cx="40158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34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34"/>
          <p:cNvSpPr txBox="1"/>
          <p:nvPr>
            <p:ph idx="3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5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35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35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35"/>
          <p:cNvSpPr txBox="1"/>
          <p:nvPr>
            <p:ph idx="3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36"/>
          <p:cNvSpPr txBox="1"/>
          <p:nvPr>
            <p:ph idx="1" type="body"/>
          </p:nvPr>
        </p:nvSpPr>
        <p:spPr>
          <a:xfrm>
            <a:off x="457110" y="120339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36"/>
          <p:cNvSpPr txBox="1"/>
          <p:nvPr>
            <p:ph idx="2" type="body"/>
          </p:nvPr>
        </p:nvSpPr>
        <p:spPr>
          <a:xfrm>
            <a:off x="457110" y="2761560"/>
            <a:ext cx="822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7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37"/>
          <p:cNvSpPr txBox="1"/>
          <p:nvPr>
            <p:ph idx="1" type="body"/>
          </p:nvPr>
        </p:nvSpPr>
        <p:spPr>
          <a:xfrm>
            <a:off x="45711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37"/>
          <p:cNvSpPr txBox="1"/>
          <p:nvPr>
            <p:ph idx="2" type="body"/>
          </p:nvPr>
        </p:nvSpPr>
        <p:spPr>
          <a:xfrm>
            <a:off x="4673970" y="120339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37"/>
          <p:cNvSpPr txBox="1"/>
          <p:nvPr>
            <p:ph idx="3" type="body"/>
          </p:nvPr>
        </p:nvSpPr>
        <p:spPr>
          <a:xfrm>
            <a:off x="45711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37"/>
          <p:cNvSpPr txBox="1"/>
          <p:nvPr>
            <p:ph idx="4" type="body"/>
          </p:nvPr>
        </p:nvSpPr>
        <p:spPr>
          <a:xfrm>
            <a:off x="4673970" y="2761560"/>
            <a:ext cx="40158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8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38"/>
          <p:cNvSpPr txBox="1"/>
          <p:nvPr>
            <p:ph idx="1" type="body"/>
          </p:nvPr>
        </p:nvSpPr>
        <p:spPr>
          <a:xfrm>
            <a:off x="45711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38"/>
          <p:cNvSpPr txBox="1"/>
          <p:nvPr>
            <p:ph idx="2" type="body"/>
          </p:nvPr>
        </p:nvSpPr>
        <p:spPr>
          <a:xfrm>
            <a:off x="323973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38"/>
          <p:cNvSpPr txBox="1"/>
          <p:nvPr>
            <p:ph idx="3" type="body"/>
          </p:nvPr>
        </p:nvSpPr>
        <p:spPr>
          <a:xfrm>
            <a:off x="6022350" y="120339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38"/>
          <p:cNvSpPr txBox="1"/>
          <p:nvPr>
            <p:ph idx="4" type="body"/>
          </p:nvPr>
        </p:nvSpPr>
        <p:spPr>
          <a:xfrm>
            <a:off x="45711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38"/>
          <p:cNvSpPr txBox="1"/>
          <p:nvPr>
            <p:ph idx="5" type="body"/>
          </p:nvPr>
        </p:nvSpPr>
        <p:spPr>
          <a:xfrm>
            <a:off x="323973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8"/>
          <p:cNvSpPr txBox="1"/>
          <p:nvPr>
            <p:ph idx="6" type="body"/>
          </p:nvPr>
        </p:nvSpPr>
        <p:spPr>
          <a:xfrm>
            <a:off x="6022350" y="2761560"/>
            <a:ext cx="26499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1.jpg"/><Relationship Id="rId2" Type="http://schemas.openxmlformats.org/officeDocument/2006/relationships/image" Target="../media/image3.jp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00910" y="0"/>
            <a:ext cx="955260" cy="73737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/>
          <p:nvPr/>
        </p:nvSpPr>
        <p:spPr>
          <a:xfrm>
            <a:off x="3881250" y="4943430"/>
            <a:ext cx="5274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525" spcFirstLastPara="1" rIns="91525" wrap="square" tIns="456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D23"/>
                </a:solidFill>
                <a:latin typeface="Arial"/>
                <a:ea typeface="Arial"/>
                <a:cs typeface="Arial"/>
                <a:sym typeface="Arial"/>
              </a:rPr>
              <a:t>THIS DOCUMENT IS THE PROPERTY OF BANK OF THE PHILIPPINE ISLANDS.  STRICTLY CONFIDENTIAL.</a:t>
            </a:r>
            <a:endParaRPr b="0" i="0" sz="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4318380" y="47520"/>
            <a:ext cx="525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1136430" y="4981500"/>
            <a:ext cx="68892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document contains confidential data. It is intended solely for  the use of authorized recipient(s). Unauthorized use, disclosure, or reproduction  is strictly prohibited.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" name="Google Shape;55;p13"/>
          <p:cNvCxnSpPr/>
          <p:nvPr/>
        </p:nvCxnSpPr>
        <p:spPr>
          <a:xfrm>
            <a:off x="2708100" y="732510"/>
            <a:ext cx="0" cy="3429000"/>
          </a:xfrm>
          <a:prstGeom prst="straightConnector1">
            <a:avLst/>
          </a:prstGeom>
          <a:noFill/>
          <a:ln cap="flat" cmpd="sng" w="21325">
            <a:solidFill>
              <a:srgbClr val="9B1D23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6" name="Google Shape;56;p13"/>
          <p:cNvSpPr/>
          <p:nvPr/>
        </p:nvSpPr>
        <p:spPr>
          <a:xfrm>
            <a:off x="8000910" y="0"/>
            <a:ext cx="1066200" cy="589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410" y="1566000"/>
            <a:ext cx="2609010" cy="201096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>
            <p:ph type="title"/>
          </p:nvPr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59" name="Google Shape;59;p13"/>
          <p:cNvSpPr txBox="1"/>
          <p:nvPr>
            <p:ph idx="1" type="body"/>
          </p:nvPr>
        </p:nvSpPr>
        <p:spPr>
          <a:xfrm>
            <a:off x="379350" y="1200150"/>
            <a:ext cx="8384400" cy="3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00910" y="0"/>
            <a:ext cx="955260" cy="73737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6"/>
          <p:cNvSpPr/>
          <p:nvPr/>
        </p:nvSpPr>
        <p:spPr>
          <a:xfrm>
            <a:off x="3881250" y="4943430"/>
            <a:ext cx="5274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25" lIns="91525" spcFirstLastPara="1" rIns="91525" wrap="square" tIns="456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9B1D23"/>
                </a:solidFill>
                <a:latin typeface="Arial"/>
                <a:ea typeface="Arial"/>
                <a:cs typeface="Arial"/>
                <a:sym typeface="Arial"/>
              </a:rPr>
              <a:t>THIS DOCUMENT IS THE PROPERTY OF BANK OF THE PHILIPPINE ISLANDS.  STRICTLY CONFIDENTIAL.</a:t>
            </a:r>
            <a:endParaRPr b="0" i="0" sz="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4318380" y="47520"/>
            <a:ext cx="5253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1136430" y="4981500"/>
            <a:ext cx="68892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document contains confidential data. It is intended solely for  the use of authorized recipient(s). Unauthorized use, disclosure, or reproduction  is strictly prohibited.</a:t>
            </a:r>
            <a:endParaRPr b="0" i="0" sz="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114" name="Google Shape;114;p26"/>
          <p:cNvSpPr txBox="1"/>
          <p:nvPr>
            <p:ph idx="1" type="body"/>
          </p:nvPr>
        </p:nvSpPr>
        <p:spPr>
          <a:xfrm>
            <a:off x="457110" y="1203390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hyperlink" Target="http://optional.of" TargetMode="External"/><Relationship Id="rId5" Type="http://schemas.openxmlformats.org/officeDocument/2006/relationships/hyperlink" Target="http://optional.of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9"/>
          <p:cNvSpPr/>
          <p:nvPr/>
        </p:nvSpPr>
        <p:spPr>
          <a:xfrm>
            <a:off x="2886030" y="737640"/>
            <a:ext cx="5114100" cy="21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4000">
              <a:solidFill>
                <a:srgbClr val="9B1D23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000">
                <a:solidFill>
                  <a:srgbClr val="9B1D23"/>
                </a:solidFill>
                <a:latin typeface="Arial Black"/>
                <a:ea typeface="Arial Black"/>
                <a:cs typeface="Arial Black"/>
                <a:sym typeface="Arial Black"/>
              </a:rPr>
              <a:t>Module 10: Testing</a:t>
            </a:r>
            <a:endParaRPr b="1"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9B1D2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8" name="Google Shape;168;p39"/>
          <p:cNvSpPr/>
          <p:nvPr/>
        </p:nvSpPr>
        <p:spPr>
          <a:xfrm>
            <a:off x="2886030" y="2919780"/>
            <a:ext cx="5114100" cy="12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latin typeface="Calibri"/>
                <a:ea typeface="Calibri"/>
                <a:cs typeface="Calibri"/>
                <a:sym typeface="Calibri"/>
              </a:rPr>
              <a:t>A BPI Training Program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9"/>
          <p:cNvSpPr/>
          <p:nvPr/>
        </p:nvSpPr>
        <p:spPr>
          <a:xfrm>
            <a:off x="0" y="4841640"/>
            <a:ext cx="7611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76" name="Google Shape;176;p40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7" name="Google Shape;177;p40"/>
          <p:cNvSpPr/>
          <p:nvPr/>
        </p:nvSpPr>
        <p:spPr>
          <a:xfrm>
            <a:off x="379800" y="944025"/>
            <a:ext cx="8384400" cy="38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C9211E"/>
                </a:solidFill>
              </a:rPr>
              <a:t>Day 2 - Spring Boot Testing &amp; Mockito</a:t>
            </a:r>
            <a:endParaRPr b="1" sz="4000">
              <a:solidFill>
                <a:srgbClr val="C9211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1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84" name="Google Shape;184;p41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5" name="Google Shape;185;p41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What is Mockito? </a:t>
            </a:r>
            <a:endParaRPr b="1" sz="2000" u="sng">
              <a:solidFill>
                <a:srgbClr val="C9211E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Mockito is a </a:t>
            </a:r>
            <a:r>
              <a:rPr b="1" lang="en" sz="1300">
                <a:solidFill>
                  <a:schemeClr val="dk1"/>
                </a:solidFill>
              </a:rPr>
              <a:t>mocking framework for Java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Used to </a:t>
            </a:r>
            <a:r>
              <a:rPr b="1" lang="en" sz="1300">
                <a:solidFill>
                  <a:schemeClr val="dk1"/>
                </a:solidFill>
              </a:rPr>
              <a:t>simulate dependencies</a:t>
            </a:r>
            <a:r>
              <a:rPr lang="en" sz="1300">
                <a:solidFill>
                  <a:schemeClr val="dk1"/>
                </a:solidFill>
              </a:rPr>
              <a:t> in unit tests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Helps isolate the </a:t>
            </a:r>
            <a:r>
              <a:rPr b="1" lang="en" sz="1300">
                <a:solidFill>
                  <a:schemeClr val="dk1"/>
                </a:solidFill>
              </a:rPr>
              <a:t>class under test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41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1"/>
          <p:cNvSpPr txBox="1"/>
          <p:nvPr/>
        </p:nvSpPr>
        <p:spPr>
          <a:xfrm>
            <a:off x="379350" y="3039025"/>
            <a:ext cx="56088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Key Idea:</a:t>
            </a:r>
            <a:br>
              <a:rPr b="1"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👉 Test your logic </a:t>
            </a:r>
            <a:r>
              <a:rPr b="1" lang="en" sz="1300">
                <a:solidFill>
                  <a:schemeClr val="dk1"/>
                </a:solidFill>
              </a:rPr>
              <a:t>without relying on real databases or services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2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94" name="Google Shape;194;p42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5" name="Google Shape;195;p42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What is Mocking? 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42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2"/>
          <p:cNvSpPr txBox="1"/>
          <p:nvPr/>
        </p:nvSpPr>
        <p:spPr>
          <a:xfrm>
            <a:off x="242300" y="1684900"/>
            <a:ext cx="5178000" cy="26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Mocking</a:t>
            </a:r>
            <a:r>
              <a:rPr lang="en" sz="1300">
                <a:solidFill>
                  <a:schemeClr val="dk1"/>
                </a:solidFill>
              </a:rPr>
              <a:t> = creating fake versions of real objects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These fake objects: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Return </a:t>
            </a:r>
            <a:r>
              <a:rPr b="1" lang="en" sz="1300">
                <a:solidFill>
                  <a:schemeClr val="dk1"/>
                </a:solidFill>
              </a:rPr>
              <a:t>controlled data</a:t>
            </a:r>
            <a:endParaRPr b="1"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Avoid </a:t>
            </a:r>
            <a:r>
              <a:rPr b="1" lang="en" sz="1300">
                <a:solidFill>
                  <a:schemeClr val="dk1"/>
                </a:solidFill>
              </a:rPr>
              <a:t>external dependencies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Commonly used for: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Repositories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External APIs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Services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Example:</a:t>
            </a:r>
            <a:br>
              <a:rPr b="1"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Instead of calling a real DB → return fake user data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3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04" name="Google Shape;204;p43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5" name="Google Shape;205;p43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Why Use Mocking?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43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43"/>
          <p:cNvSpPr txBox="1"/>
          <p:nvPr/>
        </p:nvSpPr>
        <p:spPr>
          <a:xfrm>
            <a:off x="346150" y="1900000"/>
            <a:ext cx="4735200" cy="20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Isolate </a:t>
            </a:r>
            <a:r>
              <a:rPr b="1" lang="en" sz="1300">
                <a:solidFill>
                  <a:schemeClr val="dk1"/>
                </a:solidFill>
              </a:rPr>
              <a:t>business logic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Make tests </a:t>
            </a:r>
            <a:r>
              <a:rPr b="1" lang="en" sz="1300">
                <a:solidFill>
                  <a:schemeClr val="dk1"/>
                </a:solidFill>
              </a:rPr>
              <a:t>fast and reliable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Avoid </a:t>
            </a:r>
            <a:r>
              <a:rPr b="1" lang="en" sz="1300">
                <a:solidFill>
                  <a:schemeClr val="dk1"/>
                </a:solidFill>
              </a:rPr>
              <a:t>external systems (DB, APIs)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Simulate </a:t>
            </a:r>
            <a:r>
              <a:rPr b="1" lang="en" sz="1300">
                <a:solidFill>
                  <a:schemeClr val="dk1"/>
                </a:solidFill>
              </a:rPr>
              <a:t>edge cases easily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Example: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DB down? → Mock still works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API slow? → Mock returns instantly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4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14" name="Google Shape;214;p44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5" name="Google Shape;215;p44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Mock vs Stub vs Spy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44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7" name="Google Shape;217;p44"/>
          <p:cNvGraphicFramePr/>
          <p:nvPr/>
        </p:nvGraphicFramePr>
        <p:xfrm>
          <a:off x="376100" y="201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{3AE121AA-9FC4-48C5-AD3F-89E22C2F3148}</a:tableStyleId>
              </a:tblPr>
              <a:tblGrid>
                <a:gridCol w="674800"/>
                <a:gridCol w="4520125"/>
              </a:tblGrid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Type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Description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Mock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Fake object, behavior defined using Mockito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Stub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Predefined return value for a method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Spy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Partial mock, calls real methods unless overridden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5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24" name="Google Shape;224;p45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5" name="Google Shape;225;p45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Mock vs Stub vs Spy (Example)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45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5"/>
          <p:cNvSpPr txBox="1"/>
          <p:nvPr/>
        </p:nvSpPr>
        <p:spPr>
          <a:xfrm>
            <a:off x="297450" y="2076775"/>
            <a:ext cx="53928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7F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Mock</a:t>
            </a:r>
            <a:endParaRPr sz="1200">
              <a:solidFill>
                <a:srgbClr val="3F7F5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UserRepository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repo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i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mock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(UserRepository.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7F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Stub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i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repo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.findById(1L)).thenReturn(</a:t>
            </a:r>
            <a:r>
              <a:rPr lang="en" sz="1200" u="sng">
                <a:solidFill>
                  <a:schemeClr val="hlink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Optional.</a:t>
            </a:r>
            <a:r>
              <a:rPr i="1" lang="en" sz="1200" u="sng">
                <a:solidFill>
                  <a:schemeClr val="hlink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  <a:hlinkClick r:id="rId5"/>
              </a:rPr>
              <a:t>of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7F5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Spy</a:t>
            </a:r>
            <a:endParaRPr sz="1200">
              <a:solidFill>
                <a:srgbClr val="3F7F5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UserService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spyService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i="1" lang="en" sz="12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spy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 u="sng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2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UserService(</a:t>
            </a:r>
            <a:r>
              <a:rPr lang="en" sz="1200" u="sng">
                <a:solidFill>
                  <a:srgbClr val="6A3E3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repo</a:t>
            </a:r>
            <a:r>
              <a:rPr lang="en" sz="12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34" name="Google Shape;234;p46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5" name="Google Shape;235;p46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Mockito Setup in Spring Boot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46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6"/>
          <p:cNvSpPr txBox="1"/>
          <p:nvPr/>
        </p:nvSpPr>
        <p:spPr>
          <a:xfrm>
            <a:off x="339200" y="2111613"/>
            <a:ext cx="53109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200">
                <a:solidFill>
                  <a:srgbClr val="268BD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dependency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200">
                <a:solidFill>
                  <a:srgbClr val="268BD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groupId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&gt;org.springframework.boot&lt;/</a:t>
            </a:r>
            <a:r>
              <a:rPr lang="en" sz="1200">
                <a:solidFill>
                  <a:srgbClr val="268BD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groupId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3180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200">
                <a:solidFill>
                  <a:srgbClr val="268BD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artifactId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&gt;spring-boot-starter-test&lt;/</a:t>
            </a:r>
            <a:r>
              <a:rPr lang="en" sz="1200">
                <a:solidFill>
                  <a:srgbClr val="268BD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artifactId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&lt;</a:t>
            </a:r>
            <a:r>
              <a:rPr lang="en" sz="1200">
                <a:solidFill>
                  <a:srgbClr val="268BD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scope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&gt;test&lt;/</a:t>
            </a:r>
            <a:r>
              <a:rPr lang="en" sz="1200">
                <a:solidFill>
                  <a:srgbClr val="268BD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scope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" sz="1200">
                <a:solidFill>
                  <a:srgbClr val="268BD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dependency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8" name="Google Shape;238;p46"/>
          <p:cNvSpPr txBox="1"/>
          <p:nvPr/>
        </p:nvSpPr>
        <p:spPr>
          <a:xfrm>
            <a:off x="512275" y="3495925"/>
            <a:ext cx="30000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What it includes: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JUnit 5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Mockito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Spring Test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39" name="Google Shape;239;p46"/>
          <p:cNvSpPr txBox="1"/>
          <p:nvPr/>
        </p:nvSpPr>
        <p:spPr>
          <a:xfrm>
            <a:off x="376100" y="15922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Dependency (pom.xml):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7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46" name="Google Shape;246;p47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7" name="Google Shape;247;p47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Core Mockito Annotations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47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47"/>
          <p:cNvSpPr txBox="1"/>
          <p:nvPr/>
        </p:nvSpPr>
        <p:spPr>
          <a:xfrm>
            <a:off x="379350" y="1702950"/>
            <a:ext cx="4466400" cy="23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@Mock</a:t>
            </a:r>
            <a:endParaRPr b="1"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Creates mock object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@InjectMocks</a:t>
            </a:r>
            <a:endParaRPr b="1"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Inject mocks into class being tested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@ExtendWith(MockitoExtension.class)</a:t>
            </a:r>
            <a:endParaRPr b="1"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Enables Mockito in JUnit 5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8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56" name="Google Shape;256;p48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57" name="Google Shape;257;p48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Core Mockito Methods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p48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8"/>
          <p:cNvSpPr txBox="1"/>
          <p:nvPr/>
        </p:nvSpPr>
        <p:spPr>
          <a:xfrm>
            <a:off x="379350" y="1848325"/>
            <a:ext cx="3000000" cy="23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when()</a:t>
            </a:r>
            <a:endParaRPr b="1"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Define return values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doNothing().when()</a:t>
            </a:r>
            <a:endParaRPr b="1"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Handle void methods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verify()</a:t>
            </a:r>
            <a:endParaRPr b="1"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Check interactions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9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66" name="Google Shape;266;p49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7" name="Google Shape;267;p49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What is Spring Boot Testing?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p49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9"/>
          <p:cNvSpPr txBox="1"/>
          <p:nvPr/>
        </p:nvSpPr>
        <p:spPr>
          <a:xfrm>
            <a:off x="512275" y="1882950"/>
            <a:ext cx="4894200" cy="21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Testing support provided by </a:t>
            </a:r>
            <a:r>
              <a:rPr b="1" lang="en" sz="1300">
                <a:solidFill>
                  <a:schemeClr val="dk1"/>
                </a:solidFill>
              </a:rPr>
              <a:t>Spring Boot framework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Allows testing of: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Services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Controllers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Repositories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Full application context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Key Idea:</a:t>
            </a:r>
            <a:br>
              <a:rPr b="1"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 👉 Test components </a:t>
            </a:r>
            <a:r>
              <a:rPr b="1" lang="en" sz="1300">
                <a:solidFill>
                  <a:schemeClr val="dk1"/>
                </a:solidFill>
              </a:rPr>
              <a:t>individually or as a whole system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0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76" name="Google Shape;276;p50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77" name="Google Shape;277;p50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Why Use Spring Boot Testing?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8" name="Google Shape;278;p50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50"/>
          <p:cNvSpPr txBox="1"/>
          <p:nvPr/>
        </p:nvSpPr>
        <p:spPr>
          <a:xfrm>
            <a:off x="512275" y="1882950"/>
            <a:ext cx="48942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Built-in testing support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Easy integration with JUnit &amp; Mockito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Test real application behavior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Supports </a:t>
            </a:r>
            <a:r>
              <a:rPr b="1" lang="en" sz="1300">
                <a:solidFill>
                  <a:schemeClr val="dk1"/>
                </a:solidFill>
              </a:rPr>
              <a:t>layered testing approach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280" name="Google Shape;280;p50"/>
          <p:cNvSpPr txBox="1"/>
          <p:nvPr/>
        </p:nvSpPr>
        <p:spPr>
          <a:xfrm>
            <a:off x="422250" y="3198250"/>
            <a:ext cx="3945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Testing layers in Spring Boot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Unit Testing → Business logic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Web Layer Testing → Controllers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Repository Testing → Database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Integration Testing → Full application</a:t>
            </a:r>
            <a:endParaRPr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1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87" name="Google Shape;287;p51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88" name="Google Shape;288;p51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Spring Boot Testing Annotation Overview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9" name="Google Shape;289;p51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0" name="Google Shape;290;p51"/>
          <p:cNvGraphicFramePr/>
          <p:nvPr/>
        </p:nvGraphicFramePr>
        <p:xfrm>
          <a:off x="334550" y="196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{3AE121AA-9FC4-48C5-AD3F-89E22C2F3148}</a:tableStyleId>
              </a:tblPr>
              <a:tblGrid>
                <a:gridCol w="1709925"/>
                <a:gridCol w="3715225"/>
              </a:tblGrid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Annotation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Purpose</a:t>
                      </a:r>
                      <a:endParaRPr b="1" sz="13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@SpringBootTest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Load full application context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@WebMvcTest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Test controllers only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@DataJpaTest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Test JPA repositories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@MockBean</a:t>
                      </a:r>
                      <a:endParaRPr sz="13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Mock Spring-managed beans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2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97" name="Google Shape;297;p52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98" name="Google Shape;298;p52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@SpringBootTest (Integration Test)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9" name="Google Shape;299;p52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52"/>
          <p:cNvSpPr txBox="1"/>
          <p:nvPr/>
        </p:nvSpPr>
        <p:spPr>
          <a:xfrm>
            <a:off x="376100" y="1779125"/>
            <a:ext cx="49611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Loads the </a:t>
            </a:r>
            <a:r>
              <a:rPr b="1" lang="en" sz="1300">
                <a:solidFill>
                  <a:schemeClr val="dk1"/>
                </a:solidFill>
              </a:rPr>
              <a:t>entire Spring context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Used for </a:t>
            </a:r>
            <a:r>
              <a:rPr b="1" lang="en" sz="1300">
                <a:solidFill>
                  <a:schemeClr val="dk1"/>
                </a:solidFill>
              </a:rPr>
              <a:t>integration testing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Can test: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Controller + </a:t>
            </a:r>
            <a:r>
              <a:rPr lang="en" sz="1300">
                <a:solidFill>
                  <a:schemeClr val="dk1"/>
                </a:solidFill>
              </a:rPr>
              <a:t>Service + Repository altogether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01" name="Google Shape;301;p52"/>
          <p:cNvSpPr txBox="1"/>
          <p:nvPr/>
        </p:nvSpPr>
        <p:spPr>
          <a:xfrm>
            <a:off x="339225" y="3191325"/>
            <a:ext cx="4749000" cy="11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Can be combined with: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@Transactional</a:t>
            </a:r>
            <a:r>
              <a:rPr lang="en" sz="1100">
                <a:solidFill>
                  <a:schemeClr val="dk1"/>
                </a:solidFill>
              </a:rPr>
              <a:t> → Rollback after each test.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@ActiveProfiles("test")</a:t>
            </a:r>
            <a:r>
              <a:rPr lang="en" sz="1100">
                <a:solidFill>
                  <a:schemeClr val="dk1"/>
                </a:solidFill>
              </a:rPr>
              <a:t> → Use test-specific config.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@AutoConfigureTestDatabase</a:t>
            </a:r>
            <a:r>
              <a:rPr lang="en" sz="1100">
                <a:solidFill>
                  <a:schemeClr val="dk1"/>
                </a:solidFill>
              </a:rPr>
              <a:t> → Use in-memory DB like H2.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3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08" name="Google Shape;308;p53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09" name="Google Shape;309;p53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Common Use Cases of </a:t>
            </a:r>
            <a:r>
              <a:rPr b="1" lang="en" sz="2000" u="sng">
                <a:solidFill>
                  <a:srgbClr val="C9211E"/>
                </a:solidFill>
              </a:rPr>
              <a:t>@SpringBootTest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0" name="Google Shape;310;p53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53"/>
          <p:cNvSpPr txBox="1"/>
          <p:nvPr/>
        </p:nvSpPr>
        <p:spPr>
          <a:xfrm>
            <a:off x="376100" y="1855275"/>
            <a:ext cx="47604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Testing </a:t>
            </a:r>
            <a:r>
              <a:rPr b="1" lang="en" sz="1300">
                <a:solidFill>
                  <a:schemeClr val="dk1"/>
                </a:solidFill>
              </a:rPr>
              <a:t>service classes with DB access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Validating </a:t>
            </a:r>
            <a:r>
              <a:rPr b="1" lang="en" sz="1300">
                <a:solidFill>
                  <a:schemeClr val="dk1"/>
                </a:solidFill>
              </a:rPr>
              <a:t>repository queries</a:t>
            </a:r>
            <a:r>
              <a:rPr lang="en" sz="1300">
                <a:solidFill>
                  <a:schemeClr val="dk1"/>
                </a:solidFill>
              </a:rPr>
              <a:t> using Spring Data JPA.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Checking </a:t>
            </a:r>
            <a:r>
              <a:rPr b="1" lang="en" sz="1300">
                <a:solidFill>
                  <a:schemeClr val="dk1"/>
                </a:solidFill>
              </a:rPr>
              <a:t>integration of service → repository → DB → service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Testing </a:t>
            </a:r>
            <a:r>
              <a:rPr b="1" lang="en" sz="1300">
                <a:solidFill>
                  <a:schemeClr val="dk1"/>
                </a:solidFill>
              </a:rPr>
              <a:t>custom configurations</a:t>
            </a:r>
            <a:r>
              <a:rPr lang="en" sz="1300">
                <a:solidFill>
                  <a:schemeClr val="dk1"/>
                </a:solidFill>
              </a:rPr>
              <a:t> or </a:t>
            </a:r>
            <a:r>
              <a:rPr b="1" lang="en" sz="1300">
                <a:solidFill>
                  <a:schemeClr val="dk1"/>
                </a:solidFill>
              </a:rPr>
              <a:t>property overrides</a:t>
            </a:r>
            <a:r>
              <a:rPr lang="en" sz="1300">
                <a:solidFill>
                  <a:schemeClr val="dk1"/>
                </a:solidFill>
              </a:rPr>
              <a:t> in test profiles.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4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18" name="Google Shape;318;p54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19" name="Google Shape;319;p54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@ActiveProfiles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0" name="Google Shape;320;p54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54"/>
          <p:cNvSpPr txBox="1"/>
          <p:nvPr/>
        </p:nvSpPr>
        <p:spPr>
          <a:xfrm>
            <a:off x="376100" y="1661425"/>
            <a:ext cx="4919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Activates a </a:t>
            </a:r>
            <a:r>
              <a:rPr b="1" lang="en" sz="1300">
                <a:solidFill>
                  <a:schemeClr val="dk1"/>
                </a:solidFill>
              </a:rPr>
              <a:t>specific Spring profile</a:t>
            </a:r>
            <a:r>
              <a:rPr lang="en" sz="1300">
                <a:solidFill>
                  <a:schemeClr val="dk1"/>
                </a:solidFill>
              </a:rPr>
              <a:t> for tests.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Useful to load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application-test.properties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22" name="Google Shape;322;p54"/>
          <p:cNvSpPr txBox="1"/>
          <p:nvPr/>
        </p:nvSpPr>
        <p:spPr>
          <a:xfrm>
            <a:off x="422300" y="26582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46464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@ActiveProfiles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300">
                <a:solidFill>
                  <a:srgbClr val="2A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"test"</a:t>
            </a: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5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29" name="Google Shape;329;p55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30" name="Google Shape;330;p55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@ConfigureTestDatabase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1" name="Google Shape;331;p55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55"/>
          <p:cNvSpPr txBox="1"/>
          <p:nvPr/>
        </p:nvSpPr>
        <p:spPr>
          <a:xfrm>
            <a:off x="376100" y="1661425"/>
            <a:ext cx="4919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Configures a </a:t>
            </a:r>
            <a:r>
              <a:rPr b="1" lang="en" sz="1300">
                <a:solidFill>
                  <a:schemeClr val="dk1"/>
                </a:solidFill>
              </a:rPr>
              <a:t>test database</a:t>
            </a:r>
            <a:r>
              <a:rPr lang="en" sz="1300">
                <a:solidFill>
                  <a:schemeClr val="dk1"/>
                </a:solidFill>
              </a:rPr>
              <a:t> (in-memory H2 by default).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Replace existing datasource if needed: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33" name="Google Shape;333;p55"/>
          <p:cNvSpPr txBox="1"/>
          <p:nvPr/>
        </p:nvSpPr>
        <p:spPr>
          <a:xfrm>
            <a:off x="508050" y="2568700"/>
            <a:ext cx="5053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@AutoConfigureTestDatabase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(replace = </a:t>
            </a:r>
            <a:r>
              <a:rPr lang="en" sz="13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AutoConfigureTestDatabase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.Replace.</a:t>
            </a:r>
            <a:r>
              <a:rPr b="1" i="1" lang="en" sz="1300">
                <a:solidFill>
                  <a:srgbClr val="0000C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ANY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6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40" name="Google Shape;340;p56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41" name="Google Shape;341;p56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@Transactional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2" name="Google Shape;342;p56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56"/>
          <p:cNvSpPr txBox="1"/>
          <p:nvPr/>
        </p:nvSpPr>
        <p:spPr>
          <a:xfrm>
            <a:off x="376100" y="1661425"/>
            <a:ext cx="54735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Wraps each test in a </a:t>
            </a:r>
            <a:r>
              <a:rPr b="1" lang="en" sz="1300">
                <a:solidFill>
                  <a:schemeClr val="dk1"/>
                </a:solidFill>
              </a:rPr>
              <a:t>transaction</a:t>
            </a:r>
            <a:r>
              <a:rPr lang="en" sz="1300">
                <a:solidFill>
                  <a:schemeClr val="dk1"/>
                </a:solidFill>
              </a:rPr>
              <a:t>, which </a:t>
            </a:r>
            <a:r>
              <a:rPr b="1" lang="en" sz="1300">
                <a:solidFill>
                  <a:schemeClr val="dk1"/>
                </a:solidFill>
              </a:rPr>
              <a:t>rolls back after test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Keeps the database </a:t>
            </a:r>
            <a:r>
              <a:rPr b="1" lang="en" sz="1300">
                <a:solidFill>
                  <a:schemeClr val="dk1"/>
                </a:solidFill>
              </a:rPr>
              <a:t>clean for next test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7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50" name="Google Shape;350;p57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51" name="Google Shape;351;p57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@MockBean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2" name="Google Shape;352;p57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7"/>
          <p:cNvSpPr txBox="1"/>
          <p:nvPr/>
        </p:nvSpPr>
        <p:spPr>
          <a:xfrm>
            <a:off x="376100" y="1661425"/>
            <a:ext cx="5473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Replaces a </a:t>
            </a:r>
            <a:r>
              <a:rPr b="1" lang="en" sz="1300">
                <a:solidFill>
                  <a:schemeClr val="dk1"/>
                </a:solidFill>
              </a:rPr>
              <a:t>real Spring bean with a Mockito mock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Useful to </a:t>
            </a:r>
            <a:r>
              <a:rPr b="1" lang="en" sz="1300">
                <a:solidFill>
                  <a:schemeClr val="dk1"/>
                </a:solidFill>
              </a:rPr>
              <a:t>isolate integration tests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54" name="Google Shape;354;p57"/>
          <p:cNvSpPr txBox="1"/>
          <p:nvPr/>
        </p:nvSpPr>
        <p:spPr>
          <a:xfrm>
            <a:off x="498425" y="2672125"/>
            <a:ext cx="44583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3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@MockBean</a:t>
            </a:r>
            <a:endParaRPr sz="1300">
              <a:solidFill>
                <a:srgbClr val="64646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EmailService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00">
                <a:solidFill>
                  <a:srgbClr val="0000C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emailService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8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61" name="Google Shape;361;p58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62" name="Google Shape;362;p58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@BeforeEach / @AfterEach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3" name="Google Shape;363;p58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58"/>
          <p:cNvSpPr txBox="1"/>
          <p:nvPr/>
        </p:nvSpPr>
        <p:spPr>
          <a:xfrm>
            <a:off x="376100" y="1661425"/>
            <a:ext cx="54735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Run </a:t>
            </a:r>
            <a:r>
              <a:rPr b="1" lang="en" sz="1300">
                <a:solidFill>
                  <a:schemeClr val="dk1"/>
                </a:solidFill>
              </a:rPr>
              <a:t>setup or cleanup code before/after each test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65" name="Google Shape;365;p58"/>
          <p:cNvSpPr txBox="1"/>
          <p:nvPr/>
        </p:nvSpPr>
        <p:spPr>
          <a:xfrm>
            <a:off x="671500" y="2402150"/>
            <a:ext cx="44097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2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@BeforeEach</a:t>
            </a:r>
            <a:endParaRPr sz="1200">
              <a:solidFill>
                <a:srgbClr val="64646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cleanUp()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200">
                <a:solidFill>
                  <a:srgbClr val="0000C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roleRepository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.deleteAll();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200">
                <a:solidFill>
                  <a:srgbClr val="0000C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userRepository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.deleteAll();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9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72" name="Google Shape;372;p59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73" name="Google Shape;373;p59"/>
          <p:cNvSpPr/>
          <p:nvPr/>
        </p:nvSpPr>
        <p:spPr>
          <a:xfrm>
            <a:off x="379350" y="1200150"/>
            <a:ext cx="53109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@BeforeAll / @AfterAll</a:t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4" name="Google Shape;374;p59" title="pngegg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250" y="1129830"/>
            <a:ext cx="3370350" cy="3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59"/>
          <p:cNvSpPr txBox="1"/>
          <p:nvPr/>
        </p:nvSpPr>
        <p:spPr>
          <a:xfrm>
            <a:off x="376100" y="1661425"/>
            <a:ext cx="54735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Run </a:t>
            </a:r>
            <a:r>
              <a:rPr b="1" lang="en" sz="1300">
                <a:solidFill>
                  <a:schemeClr val="dk1"/>
                </a:solidFill>
              </a:rPr>
              <a:t>setup or cleanup code before/after each test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76" name="Google Shape;376;p59"/>
          <p:cNvSpPr txBox="1"/>
          <p:nvPr/>
        </p:nvSpPr>
        <p:spPr>
          <a:xfrm>
            <a:off x="671500" y="2402150"/>
            <a:ext cx="44097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200">
                <a:solidFill>
                  <a:srgbClr val="64646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@BeforeAll</a:t>
            </a:r>
            <a:endParaRPr sz="1200">
              <a:solidFill>
                <a:srgbClr val="64646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static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cleanUp()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200">
                <a:solidFill>
                  <a:srgbClr val="0000C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perform initialization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0"/>
          <p:cNvSpPr/>
          <p:nvPr/>
        </p:nvSpPr>
        <p:spPr>
          <a:xfrm>
            <a:off x="376110" y="483030"/>
            <a:ext cx="83811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Testing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B1D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83" name="Google Shape;383;p60"/>
          <p:cNvCxnSpPr/>
          <p:nvPr/>
        </p:nvCxnSpPr>
        <p:spPr>
          <a:xfrm>
            <a:off x="72630" y="559710"/>
            <a:ext cx="7650300" cy="0"/>
          </a:xfrm>
          <a:prstGeom prst="straightConnector1">
            <a:avLst/>
          </a:prstGeom>
          <a:noFill/>
          <a:ln cap="flat" cmpd="sng" w="7150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84" name="Google Shape;384;p60"/>
          <p:cNvSpPr/>
          <p:nvPr/>
        </p:nvSpPr>
        <p:spPr>
          <a:xfrm>
            <a:off x="379350" y="1200150"/>
            <a:ext cx="8211600" cy="25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C9211E"/>
                </a:solidFill>
              </a:rPr>
              <a:t>Exercise #2: Create Integration Test using @SpringBootTest</a:t>
            </a:r>
            <a:endParaRPr b="1" sz="2000" u="sng">
              <a:solidFill>
                <a:srgbClr val="C9211E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Create integration test for your existing UserService class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Make use of the annotation discussed and follow AAA (Arrange-Act-Assert) Testing Pattern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Make sure the database is </a:t>
            </a:r>
            <a:r>
              <a:rPr b="1" lang="en" sz="1300">
                <a:solidFill>
                  <a:schemeClr val="dk1"/>
                </a:solidFill>
              </a:rPr>
              <a:t>cleaned before each test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rgbClr val="C9211E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4191D"/>
      </a:dk2>
      <a:lt2>
        <a:srgbClr val="F3E8EB"/>
      </a:lt2>
      <a:accent1>
        <a:srgbClr val="AF222B"/>
      </a:accent1>
      <a:accent2>
        <a:srgbClr val="DAA22B"/>
      </a:accent2>
      <a:accent3>
        <a:srgbClr val="1C43C9"/>
      </a:accent3>
      <a:accent4>
        <a:srgbClr val="1C9A0E"/>
      </a:accent4>
      <a:accent5>
        <a:srgbClr val="28B0F5"/>
      </a:accent5>
      <a:accent6>
        <a:srgbClr val="8A15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4191D"/>
      </a:dk2>
      <a:lt2>
        <a:srgbClr val="F3E8EB"/>
      </a:lt2>
      <a:accent1>
        <a:srgbClr val="AF222B"/>
      </a:accent1>
      <a:accent2>
        <a:srgbClr val="DAA22B"/>
      </a:accent2>
      <a:accent3>
        <a:srgbClr val="1C43C9"/>
      </a:accent3>
      <a:accent4>
        <a:srgbClr val="1C9A0E"/>
      </a:accent4>
      <a:accent5>
        <a:srgbClr val="28B0F5"/>
      </a:accent5>
      <a:accent6>
        <a:srgbClr val="8A15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